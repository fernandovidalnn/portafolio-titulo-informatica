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D2D41-50F5-EE88-B493-1CDDB9A5C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9295AB-9A26-6993-55DA-4B95BDAEC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3EF11-23B7-66D7-8F02-936CC1FA8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FC64F-3D96-05ED-A2E0-57A7C898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9AA54A-E444-76C5-7F14-3B5903DA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076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51D7D-FDB5-8C35-AEB0-ACB6D58D3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6EB3C2-2F52-6690-EC1A-6F4342710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84167D-4752-FFAE-3F05-F8F96EA7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6F8379-99C7-F9AE-43B6-1B513C04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1EF0E5-63EF-747B-0494-99DB33F2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897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B5D51-7A72-5551-1FBD-946167FC4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75170-A417-64D1-AA5A-9B328A81B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D5505A-1FA2-DF1F-E57D-9E86AC09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C7675E-D191-3DC0-16C5-C6464399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C5F82A-31A6-392F-A894-3E446DFC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223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4AD26-902A-7ACA-1029-AE824425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EBAF6-5BA3-8F35-C86D-C060EDAEA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EF04AC-FC01-A1CC-534D-CB3617FB4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5677B9-2CD5-9D4D-4B4F-C4057B65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127646-D7C5-FC5D-9E57-DB0F33CA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CAEF7C-6274-BCA9-B025-5355CC90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7823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B9A06-0D00-161B-DC2D-306A5849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DEC059-EB4C-4CC9-41C4-B56A27C04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315997-F880-5A08-8732-86F55E439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AF3A4C-891F-A428-C7C0-16AECD35A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5C7F5C-C13E-7E23-F9EB-AA1D2DF5F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0A3638-9BFD-D675-673B-E9671E53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8ED5CCB-A935-08BF-33AF-35C44C44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AF1BC1-886D-4FA1-9DCF-5633FDC8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874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0EB1D-0891-DB1A-BB96-B7B6AA6E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E7ED6D-5F83-08AB-7A2A-B65F3FF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4A0699-68FF-A930-C9D6-3DE0A3C5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829BDB-3EE5-439F-BF8B-A31E19B9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787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D52444-5764-983D-5622-3D8B9CC5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FCF7A0-3571-621C-9111-C235B17F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0EBCED-19E5-9FAF-2C1F-45A3A356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287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C7358-47EF-B14E-2944-A34C1119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2DA122-71D9-683E-5D49-95272E450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B6F4E7-591C-1DF7-7E49-7B4EE0A1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17469D-513A-CC9E-EA10-8BB8C0B3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4A8DF2-5F06-03D2-B1AF-059AEA66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7AEBE8-8159-8F5F-E140-C0F5C5B6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854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8EEA8-FA82-327F-48C4-6D80D96B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07D558-520D-8673-2084-EDBA2BDCC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0CCD47-29CB-8A5F-6ACF-364379EE6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B5C416-756F-4BAC-C249-3D551487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2FAF7A-1DD0-6507-A8A0-85905A90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8BE495-E1DF-A374-65B6-058E2A36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146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BA1F9-03CC-883A-4F3F-8812097A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500EF3-A0EC-6D54-89A5-31A7E70F9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F917A7-4D7E-CB84-190D-C3B874A2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4DEEF-2AC1-0FF3-0C51-1E17B856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0C9EB8-6EB8-F36D-163F-788F072A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737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8819BB-74CA-C4FC-57D2-57D6E9072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74CE22-41AC-4C9D-F598-E2F22B4C7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F55DAE-9604-8B6C-D410-1455F10C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FBD2F8-969C-1E51-B8D1-C1503FC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EA1FE3-EA87-4D5F-3254-69D040D3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989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718AB8-83C7-BC9B-384D-F466F67F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B24EC5-F6C8-BAB3-C387-1012EB8B2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AC1F5F-FBF5-E4E0-970E-74618BD69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45B82-07F0-4E55-A966-5CA0557FEF7E}" type="datetimeFigureOut">
              <a:rPr lang="es-CL" smtClean="0"/>
              <a:t>12-09-26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38EB4D-268C-DA5E-00F7-F5C4B0C09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BB11B-28D2-B5AA-6FC8-1678865F4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BFFAD-3A5D-4CDC-8C91-C9546C66A96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36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75000"/>
                <a:lumOff val="2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3">
            <a:extLst>
              <a:ext uri="{FF2B5EF4-FFF2-40B4-BE49-F238E27FC236}">
                <a16:creationId xmlns:a16="http://schemas.microsoft.com/office/drawing/2014/main" id="{4214476C-A9F0-8DC0-3BE9-C7EE5564B8C5}"/>
              </a:ext>
            </a:extLst>
          </p:cNvPr>
          <p:cNvSpPr/>
          <p:nvPr/>
        </p:nvSpPr>
        <p:spPr>
          <a:xfrm>
            <a:off x="685800" y="105156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600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K-Mat IA</a:t>
            </a:r>
            <a:endParaRPr lang="es-CL" sz="60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4ABC7946-B050-D9B4-C11E-C0B326CB77DD}"/>
              </a:ext>
            </a:extLst>
          </p:cNvPr>
          <p:cNvSpPr/>
          <p:nvPr/>
        </p:nvSpPr>
        <p:spPr>
          <a:xfrm>
            <a:off x="713160" y="1856160"/>
            <a:ext cx="6309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000" b="0" u="none" strike="noStrike" noProof="0" dirty="0">
                <a:solidFill>
                  <a:srgbClr val="CCFBF1"/>
                </a:solidFill>
                <a:effectLst/>
                <a:uFillTx/>
                <a:latin typeface="Inter"/>
                <a:ea typeface="Inter"/>
              </a:rPr>
              <a:t>Plataforma educativa adaptativa de matemáticas</a:t>
            </a:r>
            <a:endParaRPr lang="es-CL" sz="20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534542CE-FBB6-65A1-2263-1D2FD4E0E774}"/>
              </a:ext>
            </a:extLst>
          </p:cNvPr>
          <p:cNvSpPr/>
          <p:nvPr/>
        </p:nvSpPr>
        <p:spPr>
          <a:xfrm>
            <a:off x="731520" y="251460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300" b="1" u="none" strike="noStrike" noProof="0" dirty="0">
                <a:solidFill>
                  <a:schemeClr val="bg1">
                    <a:lumMod val="95000"/>
                  </a:schemeClr>
                </a:solidFill>
                <a:effectLst/>
                <a:uFillTx/>
                <a:latin typeface="Inter"/>
                <a:ea typeface="Inter"/>
              </a:rPr>
              <a:t>Fase 1 · Definición del Proyecto APT</a:t>
            </a:r>
            <a:endParaRPr lang="es-CL" sz="1300" b="0" u="none" strike="noStrike" noProof="0" dirty="0">
              <a:solidFill>
                <a:schemeClr val="bg1">
                  <a:lumMod val="9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4ABB9ECA-0DFD-A11C-357D-64F64343373E}"/>
              </a:ext>
            </a:extLst>
          </p:cNvPr>
          <p:cNvSpPr/>
          <p:nvPr/>
        </p:nvSpPr>
        <p:spPr>
          <a:xfrm>
            <a:off x="731520" y="3035880"/>
            <a:ext cx="6583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600" b="0" u="none" strike="noStrike" noProof="0" dirty="0">
                <a:effectLst/>
                <a:uFillTx/>
                <a:latin typeface="Inter"/>
                <a:ea typeface="Inter"/>
              </a:rPr>
              <a:t>Práctica autónoma  ·  escritura manuscrita  ·  adaptación  ·  offline-</a:t>
            </a:r>
            <a:r>
              <a:rPr lang="es-CL" sz="1600" b="0" u="none" strike="noStrike" noProof="0" dirty="0" err="1">
                <a:effectLst/>
                <a:uFillTx/>
                <a:latin typeface="Inter"/>
                <a:ea typeface="Inter"/>
              </a:rPr>
              <a:t>first</a:t>
            </a:r>
            <a:endParaRPr lang="es-CL" sz="1600" b="0" u="none" strike="noStrike" noProof="0" dirty="0">
              <a:effectLst/>
              <a:uFillTx/>
              <a:latin typeface="Arial"/>
            </a:endParaRPr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37D76DF2-5970-8566-B742-B36C232C6C1D}"/>
              </a:ext>
            </a:extLst>
          </p:cNvPr>
          <p:cNvSpPr/>
          <p:nvPr/>
        </p:nvSpPr>
        <p:spPr>
          <a:xfrm>
            <a:off x="8549640" y="1234440"/>
            <a:ext cx="2422800" cy="3474360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254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CBF4C78B-3A53-76ED-FB43-37A4B6E03AE2}"/>
              </a:ext>
            </a:extLst>
          </p:cNvPr>
          <p:cNvSpPr/>
          <p:nvPr/>
        </p:nvSpPr>
        <p:spPr>
          <a:xfrm>
            <a:off x="8823960" y="1572840"/>
            <a:ext cx="1874160" cy="24868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7857BCC7-52FA-239C-3F5A-D3703A69F9A9}"/>
              </a:ext>
            </a:extLst>
          </p:cNvPr>
          <p:cNvSpPr/>
          <p:nvPr/>
        </p:nvSpPr>
        <p:spPr>
          <a:xfrm>
            <a:off x="9070920" y="203004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2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8 + 5 =</a:t>
            </a:r>
            <a:endParaRPr lang="es-CL" sz="22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1852D4B6-9BF4-C22A-C5F4-B6DDAFE118CD}"/>
              </a:ext>
            </a:extLst>
          </p:cNvPr>
          <p:cNvSpPr/>
          <p:nvPr/>
        </p:nvSpPr>
        <p:spPr>
          <a:xfrm>
            <a:off x="9345240" y="2743200"/>
            <a:ext cx="731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3800" b="1" i="1" u="none" strike="noStrike" noProof="0" dirty="0">
                <a:solidFill>
                  <a:srgbClr val="14B8A6"/>
                </a:solidFill>
                <a:effectLst/>
                <a:uFillTx/>
                <a:latin typeface="Inter"/>
              </a:rPr>
              <a:t>13</a:t>
            </a:r>
            <a:endParaRPr lang="es-CL" sz="3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0" descr="preencoded.png">
            <a:extLst>
              <a:ext uri="{FF2B5EF4-FFF2-40B4-BE49-F238E27FC236}">
                <a16:creationId xmlns:a16="http://schemas.microsoft.com/office/drawing/2014/main" id="{18043CF9-C215-470E-E3F1-8DD463EFCAB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058400" y="395028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Shape 11">
            <a:extLst>
              <a:ext uri="{FF2B5EF4-FFF2-40B4-BE49-F238E27FC236}">
                <a16:creationId xmlns:a16="http://schemas.microsoft.com/office/drawing/2014/main" id="{F5B13A35-0016-9859-D26E-3C6B5F562D11}"/>
              </a:ext>
            </a:extLst>
          </p:cNvPr>
          <p:cNvSpPr/>
          <p:nvPr/>
        </p:nvSpPr>
        <p:spPr>
          <a:xfrm flipV="1">
            <a:off x="10378440" y="3684960"/>
            <a:ext cx="658080" cy="502920"/>
          </a:xfrm>
          <a:prstGeom prst="line">
            <a:avLst/>
          </a:prstGeom>
          <a:ln w="381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42222F38-F791-011B-9ABA-31A0F2930789}"/>
              </a:ext>
            </a:extLst>
          </p:cNvPr>
          <p:cNvSpPr/>
          <p:nvPr/>
        </p:nvSpPr>
        <p:spPr>
          <a:xfrm>
            <a:off x="731520" y="3803760"/>
            <a:ext cx="1508400" cy="310680"/>
          </a:xfrm>
          <a:prstGeom prst="roundRect">
            <a:avLst>
              <a:gd name="adj" fmla="val 16667"/>
            </a:avLst>
          </a:prstGeom>
          <a:solidFill>
            <a:srgbClr val="134E4A"/>
          </a:solidFill>
          <a:ln w="12700">
            <a:solidFill>
              <a:srgbClr val="134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F601C760-1ABB-EF1E-20AD-29F1CCB3871C}"/>
              </a:ext>
            </a:extLst>
          </p:cNvPr>
          <p:cNvSpPr/>
          <p:nvPr/>
        </p:nvSpPr>
        <p:spPr>
          <a:xfrm>
            <a:off x="804600" y="386352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99F6E4"/>
                </a:solidFill>
                <a:effectLst/>
                <a:uFillTx/>
                <a:latin typeface="Inter"/>
              </a:rPr>
              <a:t>Android-</a:t>
            </a:r>
            <a:r>
              <a:rPr lang="es-CL" sz="930" b="1" u="none" strike="noStrike" noProof="0" dirty="0" err="1">
                <a:solidFill>
                  <a:srgbClr val="99F6E4"/>
                </a:solidFill>
                <a:effectLst/>
                <a:uFillTx/>
                <a:latin typeface="Inter"/>
              </a:rPr>
              <a:t>first</a:t>
            </a:r>
            <a:endParaRPr lang="es-CL" sz="93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D8AD2506-D147-5C5B-54F5-A064585BE614}"/>
              </a:ext>
            </a:extLst>
          </p:cNvPr>
          <p:cNvSpPr/>
          <p:nvPr/>
        </p:nvSpPr>
        <p:spPr>
          <a:xfrm>
            <a:off x="2377440" y="3803760"/>
            <a:ext cx="1919880" cy="310680"/>
          </a:xfrm>
          <a:prstGeom prst="roundRect">
            <a:avLst>
              <a:gd name="adj" fmla="val 16667"/>
            </a:avLst>
          </a:prstGeom>
          <a:solidFill>
            <a:srgbClr val="0C4A6E"/>
          </a:solidFill>
          <a:ln w="12700">
            <a:solidFill>
              <a:srgbClr val="0C4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AF163279-4570-F88D-D778-0A203A910C68}"/>
              </a:ext>
            </a:extLst>
          </p:cNvPr>
          <p:cNvSpPr/>
          <p:nvPr/>
        </p:nvSpPr>
        <p:spPr>
          <a:xfrm>
            <a:off x="2450520" y="3863520"/>
            <a:ext cx="1773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BAE6FD"/>
                </a:solidFill>
                <a:effectLst/>
                <a:uFillTx/>
                <a:latin typeface="Inter"/>
              </a:rPr>
              <a:t>MVP 10–12 semanas</a:t>
            </a:r>
            <a:endParaRPr lang="es-CL" sz="93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34C4A682-A4BE-6D3A-BCA7-F5D3F1566FD7}"/>
              </a:ext>
            </a:extLst>
          </p:cNvPr>
          <p:cNvSpPr/>
          <p:nvPr/>
        </p:nvSpPr>
        <p:spPr>
          <a:xfrm>
            <a:off x="4434840" y="3803760"/>
            <a:ext cx="1508400" cy="31068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1E3A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FBFFD721-343C-7ACD-E584-F56CA8CCEAAF}"/>
              </a:ext>
            </a:extLst>
          </p:cNvPr>
          <p:cNvSpPr/>
          <p:nvPr/>
        </p:nvSpPr>
        <p:spPr>
          <a:xfrm>
            <a:off x="4507920" y="386352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BFDBFE"/>
                </a:solidFill>
                <a:effectLst/>
                <a:uFillTx/>
                <a:latin typeface="Inter"/>
              </a:rPr>
              <a:t>1°–2° Básico</a:t>
            </a:r>
            <a:endParaRPr lang="es-CL" sz="93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AE6E12A0-0D0D-337C-2915-6E7CE82780CC}"/>
              </a:ext>
            </a:extLst>
          </p:cNvPr>
          <p:cNvSpPr/>
          <p:nvPr/>
        </p:nvSpPr>
        <p:spPr>
          <a:xfrm>
            <a:off x="731520" y="480060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60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Cliente: Cristián Gómez · </a:t>
            </a:r>
            <a:r>
              <a:rPr lang="es-CL" sz="1600" b="1" u="none" strike="noStrike" noProof="0" dirty="0" err="1">
                <a:solidFill>
                  <a:srgbClr val="FFFFFF"/>
                </a:solidFill>
                <a:effectLst/>
                <a:uFillTx/>
                <a:latin typeface="Inter"/>
              </a:rPr>
              <a:t>TriskelEdu</a:t>
            </a:r>
            <a:endParaRPr lang="es-CL" sz="16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8BBCF3ED-1460-EB5A-BCA3-6A2C7C730FBE}"/>
              </a:ext>
            </a:extLst>
          </p:cNvPr>
          <p:cNvSpPr/>
          <p:nvPr/>
        </p:nvSpPr>
        <p:spPr>
          <a:xfrm>
            <a:off x="731520" y="518472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b="0" u="none" strike="noStrike" noProof="0" dirty="0">
                <a:effectLst/>
                <a:uFillTx/>
                <a:latin typeface="Inter"/>
              </a:rPr>
              <a:t>Equipo: Fernando Vidal · Matías </a:t>
            </a:r>
            <a:r>
              <a:rPr lang="es-CL" b="0" u="none" strike="noStrike" noProof="0" dirty="0" err="1">
                <a:effectLst/>
                <a:uFillTx/>
                <a:latin typeface="Inter"/>
              </a:rPr>
              <a:t>Gallardo</a:t>
            </a:r>
            <a:r>
              <a:rPr lang="es-CL" b="0" u="none" strike="noStrike" noProof="0" dirty="0">
                <a:effectLst/>
                <a:uFillTx/>
                <a:latin typeface="Inter"/>
              </a:rPr>
              <a:t> · Patricio Quijada</a:t>
            </a:r>
            <a:endParaRPr lang="es-CL" b="0" u="none" strike="noStrike" noProof="0" dirty="0">
              <a:effectLst/>
              <a:uFillTx/>
              <a:latin typeface="Arial"/>
            </a:endParaRPr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B5879C57-ACF8-E382-F76A-54DFA836CEF4}"/>
              </a:ext>
            </a:extLst>
          </p:cNvPr>
          <p:cNvSpPr/>
          <p:nvPr/>
        </p:nvSpPr>
        <p:spPr>
          <a:xfrm>
            <a:off x="731520" y="55778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00" b="0" u="none" strike="noStrike" noProof="0" dirty="0">
                <a:effectLst/>
                <a:uFillTx/>
                <a:latin typeface="Inter"/>
              </a:rPr>
              <a:t>Ingeniería en Informática · Duoc UC</a:t>
            </a:r>
            <a:endParaRPr lang="es-CL" sz="1100" b="0" u="none" strike="noStrike" noProof="0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087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71FB687-B8B5-91E8-33BE-E98A2605E3C7}"/>
              </a:ext>
            </a:extLst>
          </p:cNvPr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7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1. Situación problemática</a:t>
            </a:r>
            <a:endParaRPr lang="es-CL" sz="2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7A050B1-B5FE-CD76-A750-C75ABEC502C9}"/>
              </a:ext>
            </a:extLst>
          </p:cNvPr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El desafío es convertir una práctica normalmente guiada y revisada manualmente en una experiencia digital, autónoma y medible.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386A5C6-D506-B07E-3E10-E1A322CDCE4D}"/>
              </a:ext>
            </a:extLst>
          </p:cNvPr>
          <p:cNvSpPr/>
          <p:nvPr/>
        </p:nvSpPr>
        <p:spPr>
          <a:xfrm>
            <a:off x="685800" y="1417320"/>
            <a:ext cx="5166000" cy="4251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841EC5F-FF4B-BE23-3E05-CC81F6FE921D}"/>
              </a:ext>
            </a:extLst>
          </p:cNvPr>
          <p:cNvSpPr/>
          <p:nvPr/>
        </p:nvSpPr>
        <p:spPr>
          <a:xfrm>
            <a:off x="914400" y="1664280"/>
            <a:ext cx="1051200" cy="31068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28C3866-1D19-0537-D1BA-61F15F27F737}"/>
              </a:ext>
            </a:extLst>
          </p:cNvPr>
          <p:cNvSpPr/>
          <p:nvPr/>
        </p:nvSpPr>
        <p:spPr>
          <a:xfrm>
            <a:off x="987480" y="17236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D97706"/>
                </a:solidFill>
                <a:effectLst/>
                <a:uFillTx/>
                <a:latin typeface="Inter"/>
              </a:rPr>
              <a:t>NECESIDAD</a:t>
            </a:r>
            <a:endParaRPr lang="es-CL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8D9B9C1-886B-972F-C5C0-37BD9CD7C1E8}"/>
              </a:ext>
            </a:extLst>
          </p:cNvPr>
          <p:cNvSpPr/>
          <p:nvPr/>
        </p:nvSpPr>
        <p:spPr>
          <a:xfrm>
            <a:off x="914400" y="2267640"/>
            <a:ext cx="82080" cy="82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3DDDBAB-B7C3-D327-82B3-8B0EB388FEE0}"/>
              </a:ext>
            </a:extLst>
          </p:cNvPr>
          <p:cNvSpPr/>
          <p:nvPr/>
        </p:nvSpPr>
        <p:spPr>
          <a:xfrm>
            <a:off x="1115640" y="2148840"/>
            <a:ext cx="4324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42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La práctica matemática progresiva requiere corrección y seguimiento frecuente.</a:t>
            </a:r>
            <a:endParaRPr lang="es-CL" sz="14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88C33CC-95A8-E919-38C6-6B12914C2DA2}"/>
              </a:ext>
            </a:extLst>
          </p:cNvPr>
          <p:cNvSpPr/>
          <p:nvPr/>
        </p:nvSpPr>
        <p:spPr>
          <a:xfrm>
            <a:off x="914400" y="3026520"/>
            <a:ext cx="82080" cy="82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7FEC2EF-3189-8E74-31B8-DFA8D22E2210}"/>
              </a:ext>
            </a:extLst>
          </p:cNvPr>
          <p:cNvSpPr/>
          <p:nvPr/>
        </p:nvSpPr>
        <p:spPr>
          <a:xfrm>
            <a:off x="1115640" y="2907720"/>
            <a:ext cx="4324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42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El estudiante necesita retroalimentación inmediata para saber si debe avanzar o reforzar.</a:t>
            </a:r>
            <a:endParaRPr lang="es-CL" sz="14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E55BF5-17C3-6246-80A9-CEDF86221DA9}"/>
              </a:ext>
            </a:extLst>
          </p:cNvPr>
          <p:cNvSpPr/>
          <p:nvPr/>
        </p:nvSpPr>
        <p:spPr>
          <a:xfrm>
            <a:off x="914400" y="3785760"/>
            <a:ext cx="82080" cy="82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8E0D8B5-33B6-1FE4-403A-BF7D43D89D98}"/>
              </a:ext>
            </a:extLst>
          </p:cNvPr>
          <p:cNvSpPr/>
          <p:nvPr/>
        </p:nvSpPr>
        <p:spPr>
          <a:xfrm>
            <a:off x="1115640" y="3666600"/>
            <a:ext cx="4324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42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La conectividad puede ser intermitente: el flujo principal no debería depender siempre de Internet.</a:t>
            </a:r>
            <a:endParaRPr lang="es-CL" sz="14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30BCC2DF-B90D-59C5-A26B-A8E470439C5E}"/>
              </a:ext>
            </a:extLst>
          </p:cNvPr>
          <p:cNvSpPr/>
          <p:nvPr/>
        </p:nvSpPr>
        <p:spPr>
          <a:xfrm>
            <a:off x="914400" y="4544640"/>
            <a:ext cx="82080" cy="82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3AA8A40-285F-A7D4-02AD-570AE63235E3}"/>
              </a:ext>
            </a:extLst>
          </p:cNvPr>
          <p:cNvSpPr/>
          <p:nvPr/>
        </p:nvSpPr>
        <p:spPr>
          <a:xfrm>
            <a:off x="1115640" y="4425840"/>
            <a:ext cx="4324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42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El docente necesita información de progreso sin transformarse en un requisito para cada sesión.</a:t>
            </a:r>
            <a:endParaRPr lang="es-CL" sz="14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BF87E46-20B7-E7A8-FA96-7A068BB54189}"/>
              </a:ext>
            </a:extLst>
          </p:cNvPr>
          <p:cNvSpPr/>
          <p:nvPr/>
        </p:nvSpPr>
        <p:spPr>
          <a:xfrm>
            <a:off x="6172200" y="1417320"/>
            <a:ext cx="5321520" cy="4251600"/>
          </a:xfrm>
          <a:prstGeom prst="roundRect">
            <a:avLst>
              <a:gd name="adj" fmla="val 3871"/>
            </a:avLst>
          </a:prstGeom>
          <a:solidFill>
            <a:srgbClr val="F0FDFA"/>
          </a:solidFill>
          <a:ln w="12700">
            <a:solidFill>
              <a:srgbClr val="99F6E4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E37DCAB-46EB-7B48-C6D0-133581AA78AE}"/>
              </a:ext>
            </a:extLst>
          </p:cNvPr>
          <p:cNvSpPr/>
          <p:nvPr/>
        </p:nvSpPr>
        <p:spPr>
          <a:xfrm>
            <a:off x="6419160" y="1664280"/>
            <a:ext cx="1627200" cy="31068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56C3A12-1240-7F1C-6AA4-6BCAD6DB6BDE}"/>
              </a:ext>
            </a:extLst>
          </p:cNvPr>
          <p:cNvSpPr/>
          <p:nvPr/>
        </p:nvSpPr>
        <p:spPr>
          <a:xfrm>
            <a:off x="6492240" y="172368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0F766E"/>
                </a:solidFill>
                <a:effectLst/>
                <a:uFillTx/>
                <a:latin typeface="Inter"/>
              </a:rPr>
              <a:t>OBJETIVO DEL MVP</a:t>
            </a:r>
            <a:endParaRPr lang="es-CL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7B94D02A-6C53-CB82-11C8-6C15291C894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446520" y="224028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45DEE90A-6A6B-17CC-C61D-1557850EE9E4}"/>
              </a:ext>
            </a:extLst>
          </p:cNvPr>
          <p:cNvSpPr/>
          <p:nvPr/>
        </p:nvSpPr>
        <p:spPr>
          <a:xfrm>
            <a:off x="7251120" y="224928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0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Autonomía del estudiante</a:t>
            </a:r>
            <a:endParaRPr lang="es-CL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211ECC9-0CBE-17B2-61ED-688CD5D763DA}"/>
              </a:ext>
            </a:extLst>
          </p:cNvPr>
          <p:cNvSpPr/>
          <p:nvPr/>
        </p:nvSpPr>
        <p:spPr>
          <a:xfrm>
            <a:off x="6446520" y="2788920"/>
            <a:ext cx="43704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43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Que pueda diagnosticar su nivel, practicar, recibir corrección y continuar sin supervisión permanente.</a:t>
            </a:r>
            <a:endParaRPr lang="es-CL" sz="14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7843D1E-DD41-DEF3-81B9-4C32AFDB1594}"/>
              </a:ext>
            </a:extLst>
          </p:cNvPr>
          <p:cNvSpPr/>
          <p:nvPr/>
        </p:nvSpPr>
        <p:spPr>
          <a:xfrm>
            <a:off x="6446520" y="3675600"/>
            <a:ext cx="4343400" cy="360"/>
          </a:xfrm>
          <a:prstGeom prst="line">
            <a:avLst/>
          </a:prstGeom>
          <a:ln w="15240">
            <a:solidFill>
              <a:srgbClr val="99F6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83FFD43B-595D-077C-D8A6-E46DA356A8B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46520" y="400500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121354FE-EF21-888B-A399-866A02BEE177}"/>
              </a:ext>
            </a:extLst>
          </p:cNvPr>
          <p:cNvSpPr/>
          <p:nvPr/>
        </p:nvSpPr>
        <p:spPr>
          <a:xfrm>
            <a:off x="7251120" y="40417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7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Profesor como capa opcional</a:t>
            </a:r>
            <a:endParaRPr lang="es-CL" sz="1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253E68D2-20AE-F2FF-3A16-C80A69D5EE46}"/>
              </a:ext>
            </a:extLst>
          </p:cNvPr>
          <p:cNvSpPr/>
          <p:nvPr/>
        </p:nvSpPr>
        <p:spPr>
          <a:xfrm>
            <a:off x="6446520" y="4526280"/>
            <a:ext cx="4370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3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Puede vincular estudiantes a una clase, revisar progreso e intervenir cuando sea necesario.</a:t>
            </a:r>
            <a:endParaRPr lang="es-CL" sz="13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9AE4103-7E07-0E0E-76C3-0CE080E8FF4F}"/>
              </a:ext>
            </a:extLst>
          </p:cNvPr>
          <p:cNvSpPr/>
          <p:nvPr/>
        </p:nvSpPr>
        <p:spPr>
          <a:xfrm>
            <a:off x="868680" y="589788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Público objetivo del MVP: 1° y 2° Básico · Tablet/teléfono Android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4034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641D441-A0BE-6AC9-8678-45991A35CADB}"/>
              </a:ext>
            </a:extLst>
          </p:cNvPr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7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2. Propuesta de solución</a:t>
            </a:r>
            <a:endParaRPr lang="es-CL" sz="2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FC69915-76B0-B59E-3DD6-F5EFAB18A871}"/>
              </a:ext>
            </a:extLst>
          </p:cNvPr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K-Mat IA organiza la práctica en un flujo autónomo, trazable y adaptativo.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80099CD-725E-C14A-E2F9-E5C3CAED1C54}"/>
              </a:ext>
            </a:extLst>
          </p:cNvPr>
          <p:cNvSpPr/>
          <p:nvPr/>
        </p:nvSpPr>
        <p:spPr>
          <a:xfrm>
            <a:off x="685800" y="1691640"/>
            <a:ext cx="1718640" cy="230400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B6873108-301A-958B-B1FF-11972A375F4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271160" y="19386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3CC61CB8-6DBD-5678-A34F-A7F4AFA2A501}"/>
              </a:ext>
            </a:extLst>
          </p:cNvPr>
          <p:cNvSpPr/>
          <p:nvPr/>
        </p:nvSpPr>
        <p:spPr>
          <a:xfrm>
            <a:off x="795600" y="2670120"/>
            <a:ext cx="149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Diagnóstico</a:t>
            </a:r>
            <a:endParaRPr lang="es-CL" sz="15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B3BC8EA6-7B66-FB6A-0853-71B3A5D63174}"/>
              </a:ext>
            </a:extLst>
          </p:cNvPr>
          <p:cNvSpPr/>
          <p:nvPr/>
        </p:nvSpPr>
        <p:spPr>
          <a:xfrm>
            <a:off x="822960" y="306324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Ubica un punto de inicio.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2B5A4270-284F-7D04-47E4-AB9420A4218D}"/>
              </a:ext>
            </a:extLst>
          </p:cNvPr>
          <p:cNvSpPr/>
          <p:nvPr/>
        </p:nvSpPr>
        <p:spPr>
          <a:xfrm>
            <a:off x="2441160" y="2834640"/>
            <a:ext cx="32940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78151EF1-F5EF-7F56-1C81-DC7E39D6C8EB}"/>
              </a:ext>
            </a:extLst>
          </p:cNvPr>
          <p:cNvSpPr/>
          <p:nvPr/>
        </p:nvSpPr>
        <p:spPr>
          <a:xfrm>
            <a:off x="2834640" y="1691640"/>
            <a:ext cx="1718640" cy="2304000"/>
          </a:xfrm>
          <a:prstGeom prst="roundRect">
            <a:avLst>
              <a:gd name="adj" fmla="val 9574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0075C132-37F9-7F8D-3135-A60E0576FD9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420000" y="19386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3AB1B662-BF26-A885-FE42-765D78FEBEAE}"/>
              </a:ext>
            </a:extLst>
          </p:cNvPr>
          <p:cNvSpPr/>
          <p:nvPr/>
        </p:nvSpPr>
        <p:spPr>
          <a:xfrm>
            <a:off x="2944440" y="2670120"/>
            <a:ext cx="149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Práctica</a:t>
            </a:r>
            <a:endParaRPr lang="es-CL" sz="15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8198685-70F9-3773-27BA-745256D584A7}"/>
              </a:ext>
            </a:extLst>
          </p:cNvPr>
          <p:cNvSpPr/>
          <p:nvPr/>
        </p:nvSpPr>
        <p:spPr>
          <a:xfrm>
            <a:off x="2971800" y="306324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Presenta ejercicios acotados.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0E6E11AA-4C3A-08CC-D737-CA0030029AFB}"/>
              </a:ext>
            </a:extLst>
          </p:cNvPr>
          <p:cNvSpPr/>
          <p:nvPr/>
        </p:nvSpPr>
        <p:spPr>
          <a:xfrm>
            <a:off x="4590000" y="2834640"/>
            <a:ext cx="32940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B9A27941-91DE-3353-21AA-72D1DB137757}"/>
              </a:ext>
            </a:extLst>
          </p:cNvPr>
          <p:cNvSpPr/>
          <p:nvPr/>
        </p:nvSpPr>
        <p:spPr>
          <a:xfrm>
            <a:off x="4983480" y="1691640"/>
            <a:ext cx="1718640" cy="230400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C81CE4E6-CF31-9EC6-2B35-C29ECECC1AE6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568840" y="19386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11">
            <a:extLst>
              <a:ext uri="{FF2B5EF4-FFF2-40B4-BE49-F238E27FC236}">
                <a16:creationId xmlns:a16="http://schemas.microsoft.com/office/drawing/2014/main" id="{04931130-124F-6B77-AE13-02BB7DA126C4}"/>
              </a:ext>
            </a:extLst>
          </p:cNvPr>
          <p:cNvSpPr/>
          <p:nvPr/>
        </p:nvSpPr>
        <p:spPr>
          <a:xfrm>
            <a:off x="5093280" y="2670120"/>
            <a:ext cx="149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Escritura</a:t>
            </a:r>
            <a:endParaRPr lang="es-CL" sz="15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BACA4948-6275-70D2-72A6-7E46E92DEDD8}"/>
              </a:ext>
            </a:extLst>
          </p:cNvPr>
          <p:cNvSpPr/>
          <p:nvPr/>
        </p:nvSpPr>
        <p:spPr>
          <a:xfrm>
            <a:off x="5120640" y="306324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Dedo o </a:t>
            </a:r>
            <a:r>
              <a:rPr lang="es-CL" sz="1150" b="0" u="none" strike="noStrike" noProof="0" dirty="0" err="1">
                <a:solidFill>
                  <a:srgbClr val="475569"/>
                </a:solidFill>
                <a:effectLst/>
                <a:uFillTx/>
                <a:latin typeface="Inter"/>
              </a:rPr>
              <a:t>stylus</a:t>
            </a: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 + reconocimiento.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2E78352D-4F3E-653B-35F7-676CFF19A6D7}"/>
              </a:ext>
            </a:extLst>
          </p:cNvPr>
          <p:cNvSpPr/>
          <p:nvPr/>
        </p:nvSpPr>
        <p:spPr>
          <a:xfrm>
            <a:off x="6738840" y="2834640"/>
            <a:ext cx="32940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F30D95B9-F87E-09FE-3F31-A9C1E525C1EC}"/>
              </a:ext>
            </a:extLst>
          </p:cNvPr>
          <p:cNvSpPr/>
          <p:nvPr/>
        </p:nvSpPr>
        <p:spPr>
          <a:xfrm>
            <a:off x="7132320" y="1691640"/>
            <a:ext cx="1718640" cy="2304000"/>
          </a:xfrm>
          <a:prstGeom prst="roundRect">
            <a:avLst>
              <a:gd name="adj" fmla="val 9574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AC33BC89-8226-E999-5414-6F90749E13A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717680" y="19386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5">
            <a:extLst>
              <a:ext uri="{FF2B5EF4-FFF2-40B4-BE49-F238E27FC236}">
                <a16:creationId xmlns:a16="http://schemas.microsoft.com/office/drawing/2014/main" id="{E06DC533-FC30-8F24-EBC7-A17B13C27428}"/>
              </a:ext>
            </a:extLst>
          </p:cNvPr>
          <p:cNvSpPr/>
          <p:nvPr/>
        </p:nvSpPr>
        <p:spPr>
          <a:xfrm>
            <a:off x="7242120" y="2670120"/>
            <a:ext cx="149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Adaptación</a:t>
            </a:r>
            <a:endParaRPr lang="es-CL" sz="15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AC12DF9D-6E7E-DC6C-0DB8-0B32ED053A0C}"/>
              </a:ext>
            </a:extLst>
          </p:cNvPr>
          <p:cNvSpPr/>
          <p:nvPr/>
        </p:nvSpPr>
        <p:spPr>
          <a:xfrm>
            <a:off x="7269480" y="306324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Avanza, mantiene o refuerza.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457AE501-61C1-BC41-7EFB-1A6C6B7A1F36}"/>
              </a:ext>
            </a:extLst>
          </p:cNvPr>
          <p:cNvSpPr/>
          <p:nvPr/>
        </p:nvSpPr>
        <p:spPr>
          <a:xfrm>
            <a:off x="8887680" y="2834640"/>
            <a:ext cx="329400" cy="3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3329ABA2-A074-F71C-9E19-7FEAD176B2E3}"/>
              </a:ext>
            </a:extLst>
          </p:cNvPr>
          <p:cNvSpPr/>
          <p:nvPr/>
        </p:nvSpPr>
        <p:spPr>
          <a:xfrm>
            <a:off x="9281160" y="1691640"/>
            <a:ext cx="1718640" cy="230400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8BD842D2-1D4E-4662-5627-C0C31CC966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866520" y="193860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9">
            <a:extLst>
              <a:ext uri="{FF2B5EF4-FFF2-40B4-BE49-F238E27FC236}">
                <a16:creationId xmlns:a16="http://schemas.microsoft.com/office/drawing/2014/main" id="{C3A74F44-95D1-15B6-F21E-DD067E1BE5F5}"/>
              </a:ext>
            </a:extLst>
          </p:cNvPr>
          <p:cNvSpPr/>
          <p:nvPr/>
        </p:nvSpPr>
        <p:spPr>
          <a:xfrm>
            <a:off x="9390960" y="2670120"/>
            <a:ext cx="149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Progreso</a:t>
            </a:r>
            <a:endParaRPr lang="es-CL" sz="15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70EB6DF5-6837-B943-6AF5-2E5AACDEE5F8}"/>
              </a:ext>
            </a:extLst>
          </p:cNvPr>
          <p:cNvSpPr/>
          <p:nvPr/>
        </p:nvSpPr>
        <p:spPr>
          <a:xfrm>
            <a:off x="9418320" y="306324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Guarda resultados y reporta.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C1B1E819-7683-2560-C790-9BDA55088382}"/>
              </a:ext>
            </a:extLst>
          </p:cNvPr>
          <p:cNvSpPr/>
          <p:nvPr/>
        </p:nvSpPr>
        <p:spPr>
          <a:xfrm>
            <a:off x="914400" y="4434840"/>
            <a:ext cx="10332360" cy="123408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4FF61D18-56C1-5A6F-36A7-424BB5BCAF8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170360" y="471816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22">
            <a:extLst>
              <a:ext uri="{FF2B5EF4-FFF2-40B4-BE49-F238E27FC236}">
                <a16:creationId xmlns:a16="http://schemas.microsoft.com/office/drawing/2014/main" id="{10DE39E8-6FE0-9796-E717-19719861C044}"/>
              </a:ext>
            </a:extLst>
          </p:cNvPr>
          <p:cNvSpPr/>
          <p:nvPr/>
        </p:nvSpPr>
        <p:spPr>
          <a:xfrm>
            <a:off x="1847160" y="4645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6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Modo docente opcional</a:t>
            </a:r>
            <a:endParaRPr lang="es-CL" sz="16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365EBFA6-52F6-4888-D7A1-4E825D9C2966}"/>
              </a:ext>
            </a:extLst>
          </p:cNvPr>
          <p:cNvSpPr/>
          <p:nvPr/>
        </p:nvSpPr>
        <p:spPr>
          <a:xfrm>
            <a:off x="3794760" y="4572000"/>
            <a:ext cx="6994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Si el estudiante se vincula a una clase, el profesor podrá consultar progreso, detectar dificultades y sugerir continuidad; el flujo autónomo sigue funcionando sin esa vinculación.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DF906D5B-80A8-1075-03AE-3DA8536CFB35}"/>
              </a:ext>
            </a:extLst>
          </p:cNvPr>
          <p:cNvSpPr/>
          <p:nvPr/>
        </p:nvSpPr>
        <p:spPr>
          <a:xfrm>
            <a:off x="4498920" y="5870520"/>
            <a:ext cx="1645560" cy="31068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5512339E-0891-9D11-D256-3CD15BA71A9D}"/>
              </a:ext>
            </a:extLst>
          </p:cNvPr>
          <p:cNvSpPr/>
          <p:nvPr/>
        </p:nvSpPr>
        <p:spPr>
          <a:xfrm>
            <a:off x="4572000" y="59299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6D28D9"/>
                </a:solidFill>
                <a:effectLst/>
                <a:uFillTx/>
                <a:latin typeface="Inter"/>
              </a:rPr>
              <a:t>MVP CONTROLADO</a:t>
            </a:r>
            <a:endParaRPr lang="es-CL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8EBE01F6-7DEE-F9B9-6046-CDA4F901BEE4}"/>
              </a:ext>
            </a:extLst>
          </p:cNvPr>
          <p:cNvSpPr/>
          <p:nvPr/>
        </p:nvSpPr>
        <p:spPr>
          <a:xfrm>
            <a:off x="6327720" y="590688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2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</a:rPr>
              <a:t>Numeración · conteo · secuencias · adición y sustracción básica</a:t>
            </a:r>
            <a:endParaRPr lang="es-CL" sz="11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4758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2412A8C-8AD5-380D-60E3-7FEA43890EC2}"/>
              </a:ext>
            </a:extLst>
          </p:cNvPr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7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3. Referentes de mercado y factor diferenciador</a:t>
            </a:r>
            <a:endParaRPr lang="es-CL" sz="2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E6FD628-C764-1235-D3CD-0CE7D33A6A98}"/>
              </a:ext>
            </a:extLst>
          </p:cNvPr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La propuesta toma aprendizajes de soluciones existentes, pero define un MVP propio y acotado.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1A60AEB-65C4-BCF4-54EB-3DA6DE2182E1}"/>
              </a:ext>
            </a:extLst>
          </p:cNvPr>
          <p:cNvSpPr/>
          <p:nvPr/>
        </p:nvSpPr>
        <p:spPr>
          <a:xfrm>
            <a:off x="713160" y="1481400"/>
            <a:ext cx="3401280" cy="20570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83FD335-5B52-CE5E-68E2-B507F1BE97D3}"/>
              </a:ext>
            </a:extLst>
          </p:cNvPr>
          <p:cNvSpPr/>
          <p:nvPr/>
        </p:nvSpPr>
        <p:spPr>
          <a:xfrm>
            <a:off x="932760" y="171900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5BAC3A8-858E-A0FF-4EC9-0A390BAE0243}"/>
              </a:ext>
            </a:extLst>
          </p:cNvPr>
          <p:cNvSpPr/>
          <p:nvPr/>
        </p:nvSpPr>
        <p:spPr>
          <a:xfrm>
            <a:off x="1005840" y="17784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2563EB"/>
                </a:solidFill>
                <a:effectLst/>
                <a:uFillTx/>
                <a:latin typeface="Inter"/>
              </a:rPr>
              <a:t>Práctica digital</a:t>
            </a:r>
            <a:endParaRPr lang="es-CL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9275FBD-8B8F-7E63-39A7-D26EF49FCF3B}"/>
              </a:ext>
            </a:extLst>
          </p:cNvPr>
          <p:cNvSpPr/>
          <p:nvPr/>
        </p:nvSpPr>
        <p:spPr>
          <a:xfrm>
            <a:off x="932760" y="22129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8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Kumon </a:t>
            </a:r>
            <a:r>
              <a:rPr lang="es-CL" sz="180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Connect</a:t>
            </a:r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01FE9F3-EB60-3537-1F9E-C3015CB848E6}"/>
              </a:ext>
            </a:extLst>
          </p:cNvPr>
          <p:cNvSpPr/>
          <p:nvPr/>
        </p:nvSpPr>
        <p:spPr>
          <a:xfrm>
            <a:off x="932760" y="2724840"/>
            <a:ext cx="29257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3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Referencia en digitalización de práctica, tareas y seguimiento.</a:t>
            </a:r>
            <a:endParaRPr lang="es-CL" sz="12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FBA094D-2A79-21B9-9B9B-7368E6FE6519}"/>
              </a:ext>
            </a:extLst>
          </p:cNvPr>
          <p:cNvSpPr/>
          <p:nvPr/>
        </p:nvSpPr>
        <p:spPr>
          <a:xfrm>
            <a:off x="4498920" y="1481400"/>
            <a:ext cx="3401280" cy="20570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9A0F7473-51CF-52D3-6081-69B8D86C21C1}"/>
              </a:ext>
            </a:extLst>
          </p:cNvPr>
          <p:cNvSpPr/>
          <p:nvPr/>
        </p:nvSpPr>
        <p:spPr>
          <a:xfrm>
            <a:off x="4718160" y="171900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F0FD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A0C2A83-A11F-C456-0B12-DB3132A49617}"/>
              </a:ext>
            </a:extLst>
          </p:cNvPr>
          <p:cNvSpPr/>
          <p:nvPr/>
        </p:nvSpPr>
        <p:spPr>
          <a:xfrm>
            <a:off x="4791600" y="17784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0F766E"/>
                </a:solidFill>
                <a:effectLst/>
                <a:uFillTx/>
                <a:latin typeface="Inter"/>
              </a:rPr>
              <a:t>Experiencia infantil</a:t>
            </a:r>
            <a:endParaRPr lang="es-CL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EE60CE0-38AF-1BF8-701E-205A13F47DBB}"/>
              </a:ext>
            </a:extLst>
          </p:cNvPr>
          <p:cNvSpPr/>
          <p:nvPr/>
        </p:nvSpPr>
        <p:spPr>
          <a:xfrm>
            <a:off x="4718160" y="22129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8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Khan </a:t>
            </a:r>
            <a:r>
              <a:rPr lang="es-CL" sz="180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Academy</a:t>
            </a:r>
            <a:r>
              <a:rPr lang="es-CL" sz="18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 </a:t>
            </a:r>
            <a:r>
              <a:rPr lang="es-CL" sz="180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Kids</a:t>
            </a:r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CCEE459-949D-8606-B92E-27885F72183F}"/>
              </a:ext>
            </a:extLst>
          </p:cNvPr>
          <p:cNvSpPr/>
          <p:nvPr/>
        </p:nvSpPr>
        <p:spPr>
          <a:xfrm>
            <a:off x="4718160" y="2724840"/>
            <a:ext cx="29257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3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Referencia en experiencia guiada, autonomía y retroalimentación.</a:t>
            </a:r>
            <a:endParaRPr lang="es-CL" sz="12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734A546-8854-411C-FB42-276467717D9C}"/>
              </a:ext>
            </a:extLst>
          </p:cNvPr>
          <p:cNvSpPr/>
          <p:nvPr/>
        </p:nvSpPr>
        <p:spPr>
          <a:xfrm>
            <a:off x="8284320" y="1481400"/>
            <a:ext cx="3401280" cy="20570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14E0ED19-57F4-C0C6-423A-37CDFE3C2D31}"/>
              </a:ext>
            </a:extLst>
          </p:cNvPr>
          <p:cNvSpPr/>
          <p:nvPr/>
        </p:nvSpPr>
        <p:spPr>
          <a:xfrm>
            <a:off x="8503920" y="171900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FF7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CA822937-BFE8-6A82-CD73-142B15A6B454}"/>
              </a:ext>
            </a:extLst>
          </p:cNvPr>
          <p:cNvSpPr/>
          <p:nvPr/>
        </p:nvSpPr>
        <p:spPr>
          <a:xfrm>
            <a:off x="8577000" y="17784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D97706"/>
                </a:solidFill>
                <a:effectLst/>
                <a:uFillTx/>
                <a:latin typeface="Inter"/>
              </a:rPr>
              <a:t>Interactividad</a:t>
            </a:r>
            <a:endParaRPr lang="es-CL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F80929C2-A673-F320-CA53-4047064EDB91}"/>
              </a:ext>
            </a:extLst>
          </p:cNvPr>
          <p:cNvSpPr/>
          <p:nvPr/>
        </p:nvSpPr>
        <p:spPr>
          <a:xfrm>
            <a:off x="8503920" y="22129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80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Matific</a:t>
            </a:r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65F2B81E-9FBD-9F94-6620-9F972FCA2DDB}"/>
              </a:ext>
            </a:extLst>
          </p:cNvPr>
          <p:cNvSpPr/>
          <p:nvPr/>
        </p:nvSpPr>
        <p:spPr>
          <a:xfrm>
            <a:off x="8503920" y="2724840"/>
            <a:ext cx="29257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3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Referencia en actividades matemáticas interactivas y motivación.</a:t>
            </a:r>
            <a:endParaRPr lang="es-CL" sz="12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05018DA1-8339-47C6-F956-9BBF20BE9B46}"/>
              </a:ext>
            </a:extLst>
          </p:cNvPr>
          <p:cNvSpPr/>
          <p:nvPr/>
        </p:nvSpPr>
        <p:spPr>
          <a:xfrm>
            <a:off x="749880" y="38862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2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Diferenciador propuesto para K-Mat IA</a:t>
            </a:r>
            <a:endParaRPr lang="es-CL" sz="2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B3EA2C88-0ABA-90B8-6D0B-CE58A974565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49880" y="44805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8">
            <a:extLst>
              <a:ext uri="{FF2B5EF4-FFF2-40B4-BE49-F238E27FC236}">
                <a16:creationId xmlns:a16="http://schemas.microsoft.com/office/drawing/2014/main" id="{D8F83E5A-BA64-BAE8-2404-16B0AE924420}"/>
              </a:ext>
            </a:extLst>
          </p:cNvPr>
          <p:cNvSpPr/>
          <p:nvPr/>
        </p:nvSpPr>
        <p:spPr>
          <a:xfrm>
            <a:off x="1252800" y="4425840"/>
            <a:ext cx="19929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3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Offline-</a:t>
            </a:r>
            <a:r>
              <a:rPr lang="es-CL" sz="135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first</a:t>
            </a:r>
            <a:endParaRPr lang="es-CL" sz="13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8F50BA89-0329-F620-8997-4C6240232AB9}"/>
              </a:ext>
            </a:extLst>
          </p:cNvPr>
          <p:cNvSpPr/>
          <p:nvPr/>
        </p:nvSpPr>
        <p:spPr>
          <a:xfrm>
            <a:off x="749880" y="4892040"/>
            <a:ext cx="25052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8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Práctica y progreso local con sincronización posterior.</a:t>
            </a:r>
            <a:endParaRPr lang="es-CL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AC5328F9-8EC9-ACBE-2777-5663131B339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520440" y="44805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20">
            <a:extLst>
              <a:ext uri="{FF2B5EF4-FFF2-40B4-BE49-F238E27FC236}">
                <a16:creationId xmlns:a16="http://schemas.microsoft.com/office/drawing/2014/main" id="{795FC2B0-5316-A953-F034-9EE62D121B2C}"/>
              </a:ext>
            </a:extLst>
          </p:cNvPr>
          <p:cNvSpPr/>
          <p:nvPr/>
        </p:nvSpPr>
        <p:spPr>
          <a:xfrm>
            <a:off x="4023360" y="4425840"/>
            <a:ext cx="19929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3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Escritura digital local</a:t>
            </a:r>
            <a:endParaRPr lang="es-CL" sz="13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EBD951D4-5F6C-F50B-7AB4-9FC2B1D71FB2}"/>
              </a:ext>
            </a:extLst>
          </p:cNvPr>
          <p:cNvSpPr/>
          <p:nvPr/>
        </p:nvSpPr>
        <p:spPr>
          <a:xfrm>
            <a:off x="3520440" y="4892040"/>
            <a:ext cx="25052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8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Reconocimiento de trazos con ML Kit en Android.</a:t>
            </a:r>
            <a:endParaRPr lang="es-CL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2" descr="preencoded.png">
            <a:extLst>
              <a:ext uri="{FF2B5EF4-FFF2-40B4-BE49-F238E27FC236}">
                <a16:creationId xmlns:a16="http://schemas.microsoft.com/office/drawing/2014/main" id="{1D0B48FD-9F49-589D-E05A-F04C75B4C61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291000" y="44805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2">
            <a:extLst>
              <a:ext uri="{FF2B5EF4-FFF2-40B4-BE49-F238E27FC236}">
                <a16:creationId xmlns:a16="http://schemas.microsoft.com/office/drawing/2014/main" id="{94BEF42A-2EEA-6ED6-798E-72449B0E6F0E}"/>
              </a:ext>
            </a:extLst>
          </p:cNvPr>
          <p:cNvSpPr/>
          <p:nvPr/>
        </p:nvSpPr>
        <p:spPr>
          <a:xfrm>
            <a:off x="6793920" y="4425840"/>
            <a:ext cx="19929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3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Adaptación controlada</a:t>
            </a:r>
            <a:endParaRPr lang="es-CL" sz="13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5E210D3C-B275-F364-B638-F3ADABF93637}"/>
              </a:ext>
            </a:extLst>
          </p:cNvPr>
          <p:cNvSpPr/>
          <p:nvPr/>
        </p:nvSpPr>
        <p:spPr>
          <a:xfrm>
            <a:off x="6291000" y="4892040"/>
            <a:ext cx="25052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8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Reglas verificables para avanzar, mantener o reforzar.</a:t>
            </a:r>
            <a:endParaRPr lang="es-CL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E3378B5E-C7FB-2542-7DB2-3645463DEC2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061560" y="44805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24">
            <a:extLst>
              <a:ext uri="{FF2B5EF4-FFF2-40B4-BE49-F238E27FC236}">
                <a16:creationId xmlns:a16="http://schemas.microsoft.com/office/drawing/2014/main" id="{53C09928-50FD-A1D4-19F6-5AD36FCB759A}"/>
              </a:ext>
            </a:extLst>
          </p:cNvPr>
          <p:cNvSpPr/>
          <p:nvPr/>
        </p:nvSpPr>
        <p:spPr>
          <a:xfrm>
            <a:off x="9564480" y="4425840"/>
            <a:ext cx="19929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3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Docente opcional</a:t>
            </a:r>
            <a:endParaRPr lang="es-CL" sz="13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128D5E43-60BA-960E-EC19-1591D3E3DC57}"/>
              </a:ext>
            </a:extLst>
          </p:cNvPr>
          <p:cNvSpPr/>
          <p:nvPr/>
        </p:nvSpPr>
        <p:spPr>
          <a:xfrm>
            <a:off x="9061560" y="4892040"/>
            <a:ext cx="25052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8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Seguimiento sin convertirlo en dependencia del flujo.</a:t>
            </a:r>
            <a:endParaRPr lang="es-CL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78320E27-563F-B67D-130D-22A65CB39F62}"/>
              </a:ext>
            </a:extLst>
          </p:cNvPr>
          <p:cNvSpPr/>
          <p:nvPr/>
        </p:nvSpPr>
        <p:spPr>
          <a:xfrm>
            <a:off x="822960" y="5897880"/>
            <a:ext cx="10515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30" b="0" i="1" u="none" strike="noStrike" noProof="0" dirty="0">
                <a:solidFill>
                  <a:srgbClr val="64748B"/>
                </a:solidFill>
                <a:effectLst/>
                <a:uFillTx/>
                <a:latin typeface="Inter"/>
              </a:rPr>
              <a:t>El producto utiliza Kumon únicamente como referente metodológico; K-Mat IA es una solución propia.</a:t>
            </a:r>
            <a:endParaRPr lang="es-CL" sz="11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290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A59D107-1D25-882D-2AE1-6D9A21BD7470}"/>
              </a:ext>
            </a:extLst>
          </p:cNvPr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7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4. Arquitectura y tecnologías tentativas</a:t>
            </a:r>
            <a:endParaRPr lang="es-CL" sz="2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F9EAE46-B775-F7B7-03BF-0F65A744BCAE}"/>
              </a:ext>
            </a:extLst>
          </p:cNvPr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Android como prioridad; componentes desacoplados para permitir evolución futura.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5A2D604-EA31-D578-7D38-48EDE7D85BD4}"/>
              </a:ext>
            </a:extLst>
          </p:cNvPr>
          <p:cNvSpPr/>
          <p:nvPr/>
        </p:nvSpPr>
        <p:spPr>
          <a:xfrm>
            <a:off x="594360" y="1481400"/>
            <a:ext cx="1572480" cy="914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FA132BC-042E-18C2-C82E-98836631450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04160" y="1627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25C2DDFE-27C2-778F-075F-66C9AFA809A6}"/>
              </a:ext>
            </a:extLst>
          </p:cNvPr>
          <p:cNvSpPr/>
          <p:nvPr/>
        </p:nvSpPr>
        <p:spPr>
          <a:xfrm>
            <a:off x="1069920" y="160920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App Android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8A92A2AE-E03E-1425-DC38-DF561727AD37}"/>
              </a:ext>
            </a:extLst>
          </p:cNvPr>
          <p:cNvSpPr/>
          <p:nvPr/>
        </p:nvSpPr>
        <p:spPr>
          <a:xfrm>
            <a:off x="713160" y="1956960"/>
            <a:ext cx="1334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 err="1">
                <a:solidFill>
                  <a:srgbClr val="475569"/>
                </a:solidFill>
                <a:effectLst/>
                <a:uFillTx/>
                <a:latin typeface="Inter"/>
              </a:rPr>
              <a:t>Kotlin</a:t>
            </a: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 +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 err="1">
                <a:solidFill>
                  <a:srgbClr val="475569"/>
                </a:solidFill>
                <a:effectLst/>
                <a:uFillTx/>
                <a:latin typeface="Inter"/>
              </a:rPr>
              <a:t>Jetpack</a:t>
            </a: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 </a:t>
            </a:r>
            <a:r>
              <a:rPr lang="es-CL" sz="1060" b="0" u="none" strike="noStrike" noProof="0" dirty="0" err="1">
                <a:solidFill>
                  <a:srgbClr val="475569"/>
                </a:solidFill>
                <a:effectLst/>
                <a:uFillTx/>
                <a:latin typeface="Inter"/>
              </a:rPr>
              <a:t>Compose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B255F03-01DD-BF36-B6AD-D137E34FDED5}"/>
              </a:ext>
            </a:extLst>
          </p:cNvPr>
          <p:cNvSpPr/>
          <p:nvPr/>
        </p:nvSpPr>
        <p:spPr>
          <a:xfrm>
            <a:off x="2194560" y="1938240"/>
            <a:ext cx="200880" cy="360"/>
          </a:xfrm>
          <a:prstGeom prst="line">
            <a:avLst/>
          </a:prstGeom>
          <a:ln w="1524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C93ED5AE-7F80-3341-C30E-7B65446DBA80}"/>
              </a:ext>
            </a:extLst>
          </p:cNvPr>
          <p:cNvSpPr/>
          <p:nvPr/>
        </p:nvSpPr>
        <p:spPr>
          <a:xfrm>
            <a:off x="2450520" y="1481400"/>
            <a:ext cx="1599840" cy="914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5A7FE0E3-87B3-5419-F691-2A5E3D43BE6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560320" y="1627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1AEAEA29-1CA4-334B-CC82-9F497626058F}"/>
              </a:ext>
            </a:extLst>
          </p:cNvPr>
          <p:cNvSpPr/>
          <p:nvPr/>
        </p:nvSpPr>
        <p:spPr>
          <a:xfrm>
            <a:off x="2926080" y="160920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Escritura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FEE549E-A013-CA27-81D1-8D5A81082BF1}"/>
              </a:ext>
            </a:extLst>
          </p:cNvPr>
          <p:cNvSpPr/>
          <p:nvPr/>
        </p:nvSpPr>
        <p:spPr>
          <a:xfrm>
            <a:off x="2569320" y="1956960"/>
            <a:ext cx="1362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ML Kit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Digital Ink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55F783E2-D6CC-EA3A-C40A-3F92A0AAE0D9}"/>
              </a:ext>
            </a:extLst>
          </p:cNvPr>
          <p:cNvSpPr/>
          <p:nvPr/>
        </p:nvSpPr>
        <p:spPr>
          <a:xfrm>
            <a:off x="4078080" y="1938240"/>
            <a:ext cx="210240" cy="360"/>
          </a:xfrm>
          <a:prstGeom prst="line">
            <a:avLst/>
          </a:prstGeom>
          <a:ln w="1524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01492AA6-0EA2-A4C2-83EB-1264FDAF344E}"/>
              </a:ext>
            </a:extLst>
          </p:cNvPr>
          <p:cNvSpPr/>
          <p:nvPr/>
        </p:nvSpPr>
        <p:spPr>
          <a:xfrm>
            <a:off x="4343400" y="1481400"/>
            <a:ext cx="1599840" cy="914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D75E8ECE-8A2F-71CB-BBB7-67EB22F8AEA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53200" y="1627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11">
            <a:extLst>
              <a:ext uri="{FF2B5EF4-FFF2-40B4-BE49-F238E27FC236}">
                <a16:creationId xmlns:a16="http://schemas.microsoft.com/office/drawing/2014/main" id="{76C1BA62-460A-3506-A73F-ADD961F0C088}"/>
              </a:ext>
            </a:extLst>
          </p:cNvPr>
          <p:cNvSpPr/>
          <p:nvPr/>
        </p:nvSpPr>
        <p:spPr>
          <a:xfrm>
            <a:off x="4818960" y="160920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Motor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C2095C78-8AE5-00E5-5136-BAD549AC3389}"/>
              </a:ext>
            </a:extLst>
          </p:cNvPr>
          <p:cNvSpPr/>
          <p:nvPr/>
        </p:nvSpPr>
        <p:spPr>
          <a:xfrm>
            <a:off x="4462200" y="1956960"/>
            <a:ext cx="1362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Reglas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adaptativas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7700EDE6-FC78-99C2-3B5E-D4193F1A4B79}"/>
              </a:ext>
            </a:extLst>
          </p:cNvPr>
          <p:cNvSpPr/>
          <p:nvPr/>
        </p:nvSpPr>
        <p:spPr>
          <a:xfrm>
            <a:off x="5970960" y="1938240"/>
            <a:ext cx="210240" cy="360"/>
          </a:xfrm>
          <a:prstGeom prst="line">
            <a:avLst/>
          </a:prstGeom>
          <a:ln w="1524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95639830-F181-E18F-EB62-6835CFABFBC4}"/>
              </a:ext>
            </a:extLst>
          </p:cNvPr>
          <p:cNvSpPr/>
          <p:nvPr/>
        </p:nvSpPr>
        <p:spPr>
          <a:xfrm>
            <a:off x="6236280" y="1481400"/>
            <a:ext cx="1599840" cy="914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27815756-7D61-9F6B-3E77-6035E17552D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346080" y="1627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5">
            <a:extLst>
              <a:ext uri="{FF2B5EF4-FFF2-40B4-BE49-F238E27FC236}">
                <a16:creationId xmlns:a16="http://schemas.microsoft.com/office/drawing/2014/main" id="{72A1E316-5608-99E0-4A3D-248B35B262FA}"/>
              </a:ext>
            </a:extLst>
          </p:cNvPr>
          <p:cNvSpPr/>
          <p:nvPr/>
        </p:nvSpPr>
        <p:spPr>
          <a:xfrm>
            <a:off x="6711840" y="160920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Local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82AF9614-9673-C752-F350-F5B18D11D1B6}"/>
              </a:ext>
            </a:extLst>
          </p:cNvPr>
          <p:cNvSpPr/>
          <p:nvPr/>
        </p:nvSpPr>
        <p:spPr>
          <a:xfrm>
            <a:off x="6355080" y="1956960"/>
            <a:ext cx="1362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Room /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SQLite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C3DF66DD-F400-B178-1EF9-F6B1CEB193B8}"/>
              </a:ext>
            </a:extLst>
          </p:cNvPr>
          <p:cNvSpPr/>
          <p:nvPr/>
        </p:nvSpPr>
        <p:spPr>
          <a:xfrm>
            <a:off x="7863840" y="1938240"/>
            <a:ext cx="210240" cy="360"/>
          </a:xfrm>
          <a:prstGeom prst="line">
            <a:avLst/>
          </a:prstGeom>
          <a:ln w="1524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1F3AC9D1-1E55-4DD0-3ED4-1A0CA1F53A4E}"/>
              </a:ext>
            </a:extLst>
          </p:cNvPr>
          <p:cNvSpPr/>
          <p:nvPr/>
        </p:nvSpPr>
        <p:spPr>
          <a:xfrm>
            <a:off x="8129160" y="1481400"/>
            <a:ext cx="1599840" cy="914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663EE072-B035-33D2-DFB3-CCB4265E359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38600" y="1627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9">
            <a:extLst>
              <a:ext uri="{FF2B5EF4-FFF2-40B4-BE49-F238E27FC236}">
                <a16:creationId xmlns:a16="http://schemas.microsoft.com/office/drawing/2014/main" id="{9B17B41E-2AB5-5F46-270D-2386AD4029E9}"/>
              </a:ext>
            </a:extLst>
          </p:cNvPr>
          <p:cNvSpPr/>
          <p:nvPr/>
        </p:nvSpPr>
        <p:spPr>
          <a:xfrm>
            <a:off x="8604360" y="160920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Sync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B9623959-4E2E-1AEB-6A61-52F09BE1D35A}"/>
              </a:ext>
            </a:extLst>
          </p:cNvPr>
          <p:cNvSpPr/>
          <p:nvPr/>
        </p:nvSpPr>
        <p:spPr>
          <a:xfrm>
            <a:off x="8247960" y="1956960"/>
            <a:ext cx="1362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 err="1">
                <a:solidFill>
                  <a:srgbClr val="475569"/>
                </a:solidFill>
                <a:effectLst/>
                <a:uFillTx/>
                <a:latin typeface="Inter"/>
              </a:rPr>
              <a:t>WorkManager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12D02A29-BDBC-2333-C4D7-78592F55B325}"/>
              </a:ext>
            </a:extLst>
          </p:cNvPr>
          <p:cNvSpPr/>
          <p:nvPr/>
        </p:nvSpPr>
        <p:spPr>
          <a:xfrm>
            <a:off x="9756360" y="1938240"/>
            <a:ext cx="210600" cy="360"/>
          </a:xfrm>
          <a:prstGeom prst="line">
            <a:avLst/>
          </a:prstGeom>
          <a:ln w="1524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37B68E7C-CE7F-7FFF-52CD-CD0628C77473}"/>
              </a:ext>
            </a:extLst>
          </p:cNvPr>
          <p:cNvSpPr/>
          <p:nvPr/>
        </p:nvSpPr>
        <p:spPr>
          <a:xfrm>
            <a:off x="10021680" y="1481400"/>
            <a:ext cx="1572480" cy="914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5" descr="preencoded.png">
            <a:extLst>
              <a:ext uri="{FF2B5EF4-FFF2-40B4-BE49-F238E27FC236}">
                <a16:creationId xmlns:a16="http://schemas.microsoft.com/office/drawing/2014/main" id="{5B15AC25-102D-E5E8-D5EE-9F8E9225C6A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131480" y="16275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23">
            <a:extLst>
              <a:ext uri="{FF2B5EF4-FFF2-40B4-BE49-F238E27FC236}">
                <a16:creationId xmlns:a16="http://schemas.microsoft.com/office/drawing/2014/main" id="{077AC0D7-4A42-ED0F-6AD5-3F553F85AF98}"/>
              </a:ext>
            </a:extLst>
          </p:cNvPr>
          <p:cNvSpPr/>
          <p:nvPr/>
        </p:nvSpPr>
        <p:spPr>
          <a:xfrm>
            <a:off x="10497240" y="160920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8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Backend</a:t>
            </a:r>
            <a:endParaRPr lang="es-CL" sz="12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2078A72-D4B0-B0A6-743A-2D9723D9607D}"/>
              </a:ext>
            </a:extLst>
          </p:cNvPr>
          <p:cNvSpPr/>
          <p:nvPr/>
        </p:nvSpPr>
        <p:spPr>
          <a:xfrm>
            <a:off x="10140840" y="1956960"/>
            <a:ext cx="1334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060" b="0" u="none" strike="noStrike" noProof="0" dirty="0" err="1">
                <a:solidFill>
                  <a:srgbClr val="475569"/>
                </a:solidFill>
                <a:effectLst/>
                <a:uFillTx/>
                <a:latin typeface="Inter"/>
              </a:rPr>
              <a:t>Supabase</a:t>
            </a:r>
            <a:endParaRPr lang="es-CL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3FBF353D-E603-8912-F33E-A1A648ABCE38}"/>
              </a:ext>
            </a:extLst>
          </p:cNvPr>
          <p:cNvSpPr/>
          <p:nvPr/>
        </p:nvSpPr>
        <p:spPr>
          <a:xfrm>
            <a:off x="777240" y="2880360"/>
            <a:ext cx="5303160" cy="2422800"/>
          </a:xfrm>
          <a:prstGeom prst="roundRect">
            <a:avLst>
              <a:gd name="adj" fmla="val 6792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80C2F5F7-94ED-A56A-2B2E-4803923988A4}"/>
              </a:ext>
            </a:extLst>
          </p:cNvPr>
          <p:cNvSpPr/>
          <p:nvPr/>
        </p:nvSpPr>
        <p:spPr>
          <a:xfrm>
            <a:off x="1051560" y="313632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00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Supabase</a:t>
            </a:r>
            <a:endParaRPr lang="es-CL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7">
            <a:extLst>
              <a:ext uri="{FF2B5EF4-FFF2-40B4-BE49-F238E27FC236}">
                <a16:creationId xmlns:a16="http://schemas.microsoft.com/office/drawing/2014/main" id="{D3C83268-CED8-108A-EFCF-595EE48711C0}"/>
              </a:ext>
            </a:extLst>
          </p:cNvPr>
          <p:cNvSpPr/>
          <p:nvPr/>
        </p:nvSpPr>
        <p:spPr>
          <a:xfrm>
            <a:off x="1069920" y="3675960"/>
            <a:ext cx="72720" cy="727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8">
            <a:extLst>
              <a:ext uri="{FF2B5EF4-FFF2-40B4-BE49-F238E27FC236}">
                <a16:creationId xmlns:a16="http://schemas.microsoft.com/office/drawing/2014/main" id="{CC1ABD64-E49D-E853-CE72-4EF24105FC78}"/>
              </a:ext>
            </a:extLst>
          </p:cNvPr>
          <p:cNvSpPr/>
          <p:nvPr/>
        </p:nvSpPr>
        <p:spPr>
          <a:xfrm>
            <a:off x="1261800" y="360288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Auth </a:t>
            </a: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— autenticación y acceso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4858699D-22DE-7440-8FE2-0D11918FA828}"/>
              </a:ext>
            </a:extLst>
          </p:cNvPr>
          <p:cNvSpPr/>
          <p:nvPr/>
        </p:nvSpPr>
        <p:spPr>
          <a:xfrm>
            <a:off x="1069920" y="4060080"/>
            <a:ext cx="72720" cy="727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0">
            <a:extLst>
              <a:ext uri="{FF2B5EF4-FFF2-40B4-BE49-F238E27FC236}">
                <a16:creationId xmlns:a16="http://schemas.microsoft.com/office/drawing/2014/main" id="{1B6937E4-99A6-D9EF-494C-1F314202C6F4}"/>
              </a:ext>
            </a:extLst>
          </p:cNvPr>
          <p:cNvSpPr/>
          <p:nvPr/>
        </p:nvSpPr>
        <p:spPr>
          <a:xfrm>
            <a:off x="1261800" y="398664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PostgreSQL </a:t>
            </a: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— usuarios, ejercicios, sesiones y progreso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1">
            <a:extLst>
              <a:ext uri="{FF2B5EF4-FFF2-40B4-BE49-F238E27FC236}">
                <a16:creationId xmlns:a16="http://schemas.microsoft.com/office/drawing/2014/main" id="{E58782E5-6ED7-1211-8C8F-A2893A8F6E4C}"/>
              </a:ext>
            </a:extLst>
          </p:cNvPr>
          <p:cNvSpPr/>
          <p:nvPr/>
        </p:nvSpPr>
        <p:spPr>
          <a:xfrm>
            <a:off x="1069920" y="4443840"/>
            <a:ext cx="72720" cy="727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BD8AB189-8F21-B471-0841-BF10B6FEA066}"/>
              </a:ext>
            </a:extLst>
          </p:cNvPr>
          <p:cNvSpPr/>
          <p:nvPr/>
        </p:nvSpPr>
        <p:spPr>
          <a:xfrm>
            <a:off x="1261800" y="437076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Storage </a:t>
            </a: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— archivos y recursos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3">
            <a:extLst>
              <a:ext uri="{FF2B5EF4-FFF2-40B4-BE49-F238E27FC236}">
                <a16:creationId xmlns:a16="http://schemas.microsoft.com/office/drawing/2014/main" id="{44995024-32B1-4655-8338-4CF1E28B8A07}"/>
              </a:ext>
            </a:extLst>
          </p:cNvPr>
          <p:cNvSpPr/>
          <p:nvPr/>
        </p:nvSpPr>
        <p:spPr>
          <a:xfrm>
            <a:off x="1069920" y="4827960"/>
            <a:ext cx="72720" cy="727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471B1EAA-4106-C782-C95F-71C83C35E626}"/>
              </a:ext>
            </a:extLst>
          </p:cNvPr>
          <p:cNvSpPr/>
          <p:nvPr/>
        </p:nvSpPr>
        <p:spPr>
          <a:xfrm>
            <a:off x="1261800" y="475488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Edge </a:t>
            </a:r>
            <a:r>
              <a:rPr lang="es-CL" sz="1150" b="1" u="none" strike="noStrike" noProof="0" dirty="0" err="1">
                <a:solidFill>
                  <a:srgbClr val="0F172A"/>
                </a:solidFill>
                <a:effectLst/>
                <a:uFillTx/>
                <a:latin typeface="Inter"/>
              </a:rPr>
              <a:t>Functions</a:t>
            </a:r>
            <a:r>
              <a:rPr lang="es-CL" sz="115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 </a:t>
            </a: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— lógica segura de servidor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5">
            <a:extLst>
              <a:ext uri="{FF2B5EF4-FFF2-40B4-BE49-F238E27FC236}">
                <a16:creationId xmlns:a16="http://schemas.microsoft.com/office/drawing/2014/main" id="{B14033E7-D8F8-5E9A-1A27-C59F95F48114}"/>
              </a:ext>
            </a:extLst>
          </p:cNvPr>
          <p:cNvSpPr/>
          <p:nvPr/>
        </p:nvSpPr>
        <p:spPr>
          <a:xfrm>
            <a:off x="6327720" y="2880360"/>
            <a:ext cx="5074560" cy="2422800"/>
          </a:xfrm>
          <a:prstGeom prst="roundRect">
            <a:avLst>
              <a:gd name="adj" fmla="val 6792"/>
            </a:avLst>
          </a:prstGeom>
          <a:solidFill>
            <a:srgbClr val="F0FDFA"/>
          </a:solidFill>
          <a:ln w="12700">
            <a:solidFill>
              <a:srgbClr val="99F6E4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6">
            <a:extLst>
              <a:ext uri="{FF2B5EF4-FFF2-40B4-BE49-F238E27FC236}">
                <a16:creationId xmlns:a16="http://schemas.microsoft.com/office/drawing/2014/main" id="{3C4D4B06-A615-19B7-A68D-EA29BC37821E}"/>
              </a:ext>
            </a:extLst>
          </p:cNvPr>
          <p:cNvSpPr/>
          <p:nvPr/>
        </p:nvSpPr>
        <p:spPr>
          <a:xfrm>
            <a:off x="6583680" y="313632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9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Componentes complementarios</a:t>
            </a:r>
            <a:endParaRPr lang="es-CL" sz="1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6" descr="preencoded.png">
            <a:extLst>
              <a:ext uri="{FF2B5EF4-FFF2-40B4-BE49-F238E27FC236}">
                <a16:creationId xmlns:a16="http://schemas.microsoft.com/office/drawing/2014/main" id="{9EC6FAC4-3246-0BD2-C935-20405A8CC49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02040" y="36849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37">
            <a:extLst>
              <a:ext uri="{FF2B5EF4-FFF2-40B4-BE49-F238E27FC236}">
                <a16:creationId xmlns:a16="http://schemas.microsoft.com/office/drawing/2014/main" id="{69D8EEC4-E78D-4AB8-E7A8-69B26E115099}"/>
              </a:ext>
            </a:extLst>
          </p:cNvPr>
          <p:cNvSpPr/>
          <p:nvPr/>
        </p:nvSpPr>
        <p:spPr>
          <a:xfrm>
            <a:off x="7040880" y="363924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6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Gemini API (opcional)</a:t>
            </a:r>
            <a:endParaRPr lang="es-CL" sz="12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8">
            <a:extLst>
              <a:ext uri="{FF2B5EF4-FFF2-40B4-BE49-F238E27FC236}">
                <a16:creationId xmlns:a16="http://schemas.microsoft.com/office/drawing/2014/main" id="{878CDD2D-77A7-AD53-078E-B6F27567F0FD}"/>
              </a:ext>
            </a:extLst>
          </p:cNvPr>
          <p:cNvSpPr/>
          <p:nvPr/>
        </p:nvSpPr>
        <p:spPr>
          <a:xfrm>
            <a:off x="7040880" y="39319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1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Análisis y retroalimentación avanzada vía </a:t>
            </a:r>
            <a:r>
              <a:rPr lang="es-CL" sz="1110" b="0" u="none" strike="noStrike" noProof="0" dirty="0" err="1">
                <a:solidFill>
                  <a:srgbClr val="475569"/>
                </a:solidFill>
                <a:effectLst/>
                <a:uFillTx/>
                <a:latin typeface="Inter"/>
              </a:rPr>
              <a:t>backend</a:t>
            </a:r>
            <a:r>
              <a:rPr lang="es-CL" sz="111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.</a:t>
            </a:r>
            <a:endParaRPr lang="es-CL" sz="11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7" descr="preencoded.png">
            <a:extLst>
              <a:ext uri="{FF2B5EF4-FFF2-40B4-BE49-F238E27FC236}">
                <a16:creationId xmlns:a16="http://schemas.microsoft.com/office/drawing/2014/main" id="{F2DC07D4-4AC2-A8A0-E385-198187B5179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02040" y="43707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39">
            <a:extLst>
              <a:ext uri="{FF2B5EF4-FFF2-40B4-BE49-F238E27FC236}">
                <a16:creationId xmlns:a16="http://schemas.microsoft.com/office/drawing/2014/main" id="{A4DBE88D-FF45-5508-225E-FEEAF610386E}"/>
              </a:ext>
            </a:extLst>
          </p:cNvPr>
          <p:cNvSpPr/>
          <p:nvPr/>
        </p:nvSpPr>
        <p:spPr>
          <a:xfrm>
            <a:off x="7040880" y="433440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6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Seguridad y privacidad</a:t>
            </a:r>
            <a:endParaRPr lang="es-CL" sz="12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0">
            <a:extLst>
              <a:ext uri="{FF2B5EF4-FFF2-40B4-BE49-F238E27FC236}">
                <a16:creationId xmlns:a16="http://schemas.microsoft.com/office/drawing/2014/main" id="{D0B041AE-3DDE-4C5A-D49B-3A8622387848}"/>
              </a:ext>
            </a:extLst>
          </p:cNvPr>
          <p:cNvSpPr/>
          <p:nvPr/>
        </p:nvSpPr>
        <p:spPr>
          <a:xfrm>
            <a:off x="7040880" y="46267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1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RLS, mínimo de datos y control de acceso por rol.</a:t>
            </a:r>
            <a:endParaRPr lang="es-CL" sz="11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1">
            <a:extLst>
              <a:ext uri="{FF2B5EF4-FFF2-40B4-BE49-F238E27FC236}">
                <a16:creationId xmlns:a16="http://schemas.microsoft.com/office/drawing/2014/main" id="{D5DD61C2-C2EA-E5FE-707E-192E9D83F7B8}"/>
              </a:ext>
            </a:extLst>
          </p:cNvPr>
          <p:cNvSpPr/>
          <p:nvPr/>
        </p:nvSpPr>
        <p:spPr>
          <a:xfrm>
            <a:off x="4507920" y="5715000"/>
            <a:ext cx="1462680" cy="31068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2">
            <a:extLst>
              <a:ext uri="{FF2B5EF4-FFF2-40B4-BE49-F238E27FC236}">
                <a16:creationId xmlns:a16="http://schemas.microsoft.com/office/drawing/2014/main" id="{2632DD0F-F42C-4CAF-459C-65EFE25489F3}"/>
              </a:ext>
            </a:extLst>
          </p:cNvPr>
          <p:cNvSpPr/>
          <p:nvPr/>
        </p:nvSpPr>
        <p:spPr>
          <a:xfrm>
            <a:off x="4581000" y="577440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930" b="1" u="none" strike="noStrike" noProof="0" dirty="0">
                <a:solidFill>
                  <a:srgbClr val="0F766E"/>
                </a:solidFill>
                <a:effectLst/>
                <a:uFillTx/>
                <a:latin typeface="Inter"/>
              </a:rPr>
              <a:t>OFFLINE-FIRST</a:t>
            </a:r>
            <a:endParaRPr lang="es-CL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3">
            <a:extLst>
              <a:ext uri="{FF2B5EF4-FFF2-40B4-BE49-F238E27FC236}">
                <a16:creationId xmlns:a16="http://schemas.microsoft.com/office/drawing/2014/main" id="{E8159379-1CC4-8C97-D369-B33FA5A267D8}"/>
              </a:ext>
            </a:extLst>
          </p:cNvPr>
          <p:cNvSpPr/>
          <p:nvPr/>
        </p:nvSpPr>
        <p:spPr>
          <a:xfrm>
            <a:off x="6172200" y="5769720"/>
            <a:ext cx="46630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4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</a:rPr>
              <a:t>El núcleo del MVP puede funcionar sin depender de IA generativa.</a:t>
            </a:r>
            <a:endParaRPr lang="es-CL" sz="114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23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3A735-082C-3586-F8DC-1BFCB0EC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D32C918-78BF-B1B3-F5A6-6A665D7D5489}"/>
              </a:ext>
            </a:extLst>
          </p:cNvPr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7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5. Plan de trabajo: Scrum adaptado</a:t>
            </a:r>
            <a:endParaRPr lang="es-CL" sz="2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441A98F-EBF2-AC9B-DBC8-CE1E1E9B0FAE}"/>
              </a:ext>
            </a:extLst>
          </p:cNvPr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18 semanas académicas; el desarrollo técnico principal se concentra en aproximadamente 10–12 semanas.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ECC7036-316D-27A8-2EC4-687377B7DE4C}"/>
              </a:ext>
            </a:extLst>
          </p:cNvPr>
          <p:cNvSpPr/>
          <p:nvPr/>
        </p:nvSpPr>
        <p:spPr>
          <a:xfrm>
            <a:off x="731520" y="1444680"/>
            <a:ext cx="2157480" cy="4568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5AE7634-5835-42E1-C5B5-D83824B8C838}"/>
              </a:ext>
            </a:extLst>
          </p:cNvPr>
          <p:cNvSpPr/>
          <p:nvPr/>
        </p:nvSpPr>
        <p:spPr>
          <a:xfrm>
            <a:off x="2907720" y="1444680"/>
            <a:ext cx="6418800" cy="45684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F6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6F50A9C-A943-0EDE-4123-219F310E0F8A}"/>
              </a:ext>
            </a:extLst>
          </p:cNvPr>
          <p:cNvSpPr/>
          <p:nvPr/>
        </p:nvSpPr>
        <p:spPr>
          <a:xfrm>
            <a:off x="9345240" y="1444680"/>
            <a:ext cx="2084400" cy="4568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DDD6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10A61BE-1ED5-4A81-7AE7-11A78174256F}"/>
              </a:ext>
            </a:extLst>
          </p:cNvPr>
          <p:cNvSpPr/>
          <p:nvPr/>
        </p:nvSpPr>
        <p:spPr>
          <a:xfrm>
            <a:off x="731520" y="1563480"/>
            <a:ext cx="2157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 noProof="0" dirty="0">
                <a:solidFill>
                  <a:srgbClr val="1E40AF"/>
                </a:solidFill>
                <a:effectLst/>
                <a:uFillTx/>
                <a:latin typeface="Inter"/>
              </a:rPr>
              <a:t>Fase 1 · S1–S4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0F14746-5C71-5A22-0C90-D657FB5F09C9}"/>
              </a:ext>
            </a:extLst>
          </p:cNvPr>
          <p:cNvSpPr/>
          <p:nvPr/>
        </p:nvSpPr>
        <p:spPr>
          <a:xfrm>
            <a:off x="2907720" y="1563480"/>
            <a:ext cx="641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 noProof="0" dirty="0">
                <a:solidFill>
                  <a:srgbClr val="0F766E"/>
                </a:solidFill>
                <a:effectLst/>
                <a:uFillTx/>
                <a:latin typeface="Inter"/>
              </a:rPr>
              <a:t>Fase 2 · S5–S15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D671296-693C-9D32-C332-20CD4D071D6D}"/>
              </a:ext>
            </a:extLst>
          </p:cNvPr>
          <p:cNvSpPr/>
          <p:nvPr/>
        </p:nvSpPr>
        <p:spPr>
          <a:xfrm>
            <a:off x="9345240" y="1563480"/>
            <a:ext cx="2084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1" u="none" strike="noStrike" noProof="0" dirty="0">
                <a:solidFill>
                  <a:srgbClr val="6D28D9"/>
                </a:solidFill>
                <a:effectLst/>
                <a:uFillTx/>
                <a:latin typeface="Inter"/>
              </a:rPr>
              <a:t>Fase 3 · S16–S18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C656704C-859E-6E32-802B-ECE49BBDFB93}"/>
              </a:ext>
            </a:extLst>
          </p:cNvPr>
          <p:cNvSpPr/>
          <p:nvPr/>
        </p:nvSpPr>
        <p:spPr>
          <a:xfrm>
            <a:off x="731520" y="2039040"/>
            <a:ext cx="594000" cy="3654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18D6ABE-4242-D4F2-59FF-AF64B9D39ABD}"/>
              </a:ext>
            </a:extLst>
          </p:cNvPr>
          <p:cNvSpPr/>
          <p:nvPr/>
        </p:nvSpPr>
        <p:spPr>
          <a:xfrm>
            <a:off x="73152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36AFE4B2-A692-7F5E-B669-53DE6A9593A0}"/>
              </a:ext>
            </a:extLst>
          </p:cNvPr>
          <p:cNvSpPr/>
          <p:nvPr/>
        </p:nvSpPr>
        <p:spPr>
          <a:xfrm>
            <a:off x="1325880" y="2039040"/>
            <a:ext cx="594000" cy="3654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1466880-978F-75A5-A08D-9442170F9E24}"/>
              </a:ext>
            </a:extLst>
          </p:cNvPr>
          <p:cNvSpPr/>
          <p:nvPr/>
        </p:nvSpPr>
        <p:spPr>
          <a:xfrm>
            <a:off x="132588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S2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0B6254F-CF86-3EB6-94D6-5FD30B973DB5}"/>
              </a:ext>
            </a:extLst>
          </p:cNvPr>
          <p:cNvSpPr/>
          <p:nvPr/>
        </p:nvSpPr>
        <p:spPr>
          <a:xfrm>
            <a:off x="1920240" y="2039040"/>
            <a:ext cx="594000" cy="3654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EC34265A-BB93-4338-59EF-E24E7F10F971}"/>
              </a:ext>
            </a:extLst>
          </p:cNvPr>
          <p:cNvSpPr/>
          <p:nvPr/>
        </p:nvSpPr>
        <p:spPr>
          <a:xfrm>
            <a:off x="192024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S3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0BED740-B42B-6328-0DA0-ECDC40F402F5}"/>
              </a:ext>
            </a:extLst>
          </p:cNvPr>
          <p:cNvSpPr/>
          <p:nvPr/>
        </p:nvSpPr>
        <p:spPr>
          <a:xfrm>
            <a:off x="2514600" y="2039040"/>
            <a:ext cx="594000" cy="3654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826657DE-1485-6779-05B8-18B9D30129E9}"/>
              </a:ext>
            </a:extLst>
          </p:cNvPr>
          <p:cNvSpPr/>
          <p:nvPr/>
        </p:nvSpPr>
        <p:spPr>
          <a:xfrm>
            <a:off x="251460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S4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562EB069-5B49-27B0-60E1-9DDBD300C846}"/>
              </a:ext>
            </a:extLst>
          </p:cNvPr>
          <p:cNvSpPr/>
          <p:nvPr/>
        </p:nvSpPr>
        <p:spPr>
          <a:xfrm>
            <a:off x="310896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A75CAB6A-CC24-2FE7-ECEB-6BE218A945C2}"/>
              </a:ext>
            </a:extLst>
          </p:cNvPr>
          <p:cNvSpPr/>
          <p:nvPr/>
        </p:nvSpPr>
        <p:spPr>
          <a:xfrm>
            <a:off x="310896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S5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F5BC680F-5B47-A34E-28CB-D845E45D147D}"/>
              </a:ext>
            </a:extLst>
          </p:cNvPr>
          <p:cNvSpPr/>
          <p:nvPr/>
        </p:nvSpPr>
        <p:spPr>
          <a:xfrm>
            <a:off x="370332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23C3C456-7FCC-15A7-58F1-484FCFB46B76}"/>
              </a:ext>
            </a:extLst>
          </p:cNvPr>
          <p:cNvSpPr/>
          <p:nvPr/>
        </p:nvSpPr>
        <p:spPr>
          <a:xfrm>
            <a:off x="370332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S6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2DFE131C-132B-B11F-7BB2-977D0B956D36}"/>
              </a:ext>
            </a:extLst>
          </p:cNvPr>
          <p:cNvSpPr/>
          <p:nvPr/>
        </p:nvSpPr>
        <p:spPr>
          <a:xfrm>
            <a:off x="429768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2D46459A-A0CD-0579-DC00-AADD62860A11}"/>
              </a:ext>
            </a:extLst>
          </p:cNvPr>
          <p:cNvSpPr/>
          <p:nvPr/>
        </p:nvSpPr>
        <p:spPr>
          <a:xfrm>
            <a:off x="429768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S7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BD7FA389-89AC-5488-C7FF-C3E0607FA8B6}"/>
              </a:ext>
            </a:extLst>
          </p:cNvPr>
          <p:cNvSpPr/>
          <p:nvPr/>
        </p:nvSpPr>
        <p:spPr>
          <a:xfrm>
            <a:off x="489204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A197A648-48D7-4F57-BF1F-A0C5A9A301D1}"/>
              </a:ext>
            </a:extLst>
          </p:cNvPr>
          <p:cNvSpPr/>
          <p:nvPr/>
        </p:nvSpPr>
        <p:spPr>
          <a:xfrm>
            <a:off x="489204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S8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92B9447E-8622-E7CD-9832-AED4C35E0D8B}"/>
              </a:ext>
            </a:extLst>
          </p:cNvPr>
          <p:cNvSpPr/>
          <p:nvPr/>
        </p:nvSpPr>
        <p:spPr>
          <a:xfrm>
            <a:off x="548640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A8612D8C-6AB9-C3A4-71F2-D874B121120F}"/>
              </a:ext>
            </a:extLst>
          </p:cNvPr>
          <p:cNvSpPr/>
          <p:nvPr/>
        </p:nvSpPr>
        <p:spPr>
          <a:xfrm>
            <a:off x="548640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S9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2623EF8E-2ED2-12D4-890A-72F908FE0A1A}"/>
              </a:ext>
            </a:extLst>
          </p:cNvPr>
          <p:cNvSpPr/>
          <p:nvPr/>
        </p:nvSpPr>
        <p:spPr>
          <a:xfrm>
            <a:off x="608076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C9CE909B-52D9-65ED-ED4D-36A37E07EE66}"/>
              </a:ext>
            </a:extLst>
          </p:cNvPr>
          <p:cNvSpPr/>
          <p:nvPr/>
        </p:nvSpPr>
        <p:spPr>
          <a:xfrm>
            <a:off x="608076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S10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1F99A79C-FABB-AD50-AC82-3AAA697B9932}"/>
              </a:ext>
            </a:extLst>
          </p:cNvPr>
          <p:cNvSpPr/>
          <p:nvPr/>
        </p:nvSpPr>
        <p:spPr>
          <a:xfrm>
            <a:off x="667512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6917B618-9587-D1C5-4B15-C12E3CC31003}"/>
              </a:ext>
            </a:extLst>
          </p:cNvPr>
          <p:cNvSpPr/>
          <p:nvPr/>
        </p:nvSpPr>
        <p:spPr>
          <a:xfrm>
            <a:off x="667512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S11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5845B3BF-5086-0348-3F3F-BAE59F7DA4BA}"/>
              </a:ext>
            </a:extLst>
          </p:cNvPr>
          <p:cNvSpPr/>
          <p:nvPr/>
        </p:nvSpPr>
        <p:spPr>
          <a:xfrm>
            <a:off x="726948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DF59AFF1-1B33-5F39-AA04-A9618BC2B388}"/>
              </a:ext>
            </a:extLst>
          </p:cNvPr>
          <p:cNvSpPr/>
          <p:nvPr/>
        </p:nvSpPr>
        <p:spPr>
          <a:xfrm>
            <a:off x="726948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S12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21F377C1-9B70-6944-4EEA-A38DCCD6D548}"/>
              </a:ext>
            </a:extLst>
          </p:cNvPr>
          <p:cNvSpPr/>
          <p:nvPr/>
        </p:nvSpPr>
        <p:spPr>
          <a:xfrm>
            <a:off x="786384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D4D79FEC-4ACA-7BD9-513D-97F22395D90A}"/>
              </a:ext>
            </a:extLst>
          </p:cNvPr>
          <p:cNvSpPr/>
          <p:nvPr/>
        </p:nvSpPr>
        <p:spPr>
          <a:xfrm>
            <a:off x="786384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S13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9722D779-85DC-20C2-30EB-975D733FDAE7}"/>
              </a:ext>
            </a:extLst>
          </p:cNvPr>
          <p:cNvSpPr/>
          <p:nvPr/>
        </p:nvSpPr>
        <p:spPr>
          <a:xfrm>
            <a:off x="845820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80731961-C25A-65D2-E74E-5EDB19D112DD}"/>
              </a:ext>
            </a:extLst>
          </p:cNvPr>
          <p:cNvSpPr/>
          <p:nvPr/>
        </p:nvSpPr>
        <p:spPr>
          <a:xfrm>
            <a:off x="845820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S14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00C69201-F958-876A-1CD7-028C86435F66}"/>
              </a:ext>
            </a:extLst>
          </p:cNvPr>
          <p:cNvSpPr/>
          <p:nvPr/>
        </p:nvSpPr>
        <p:spPr>
          <a:xfrm>
            <a:off x="9052560" y="2039040"/>
            <a:ext cx="594000" cy="36540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09945B8C-8916-64A3-6493-8111C377FF38}"/>
              </a:ext>
            </a:extLst>
          </p:cNvPr>
          <p:cNvSpPr/>
          <p:nvPr/>
        </p:nvSpPr>
        <p:spPr>
          <a:xfrm>
            <a:off x="905256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S15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8">
            <a:extLst>
              <a:ext uri="{FF2B5EF4-FFF2-40B4-BE49-F238E27FC236}">
                <a16:creationId xmlns:a16="http://schemas.microsoft.com/office/drawing/2014/main" id="{64036C3F-5FC3-0E96-EDE1-09C13544679E}"/>
              </a:ext>
            </a:extLst>
          </p:cNvPr>
          <p:cNvSpPr/>
          <p:nvPr/>
        </p:nvSpPr>
        <p:spPr>
          <a:xfrm>
            <a:off x="9646920" y="2039040"/>
            <a:ext cx="594000" cy="3654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8F8A114F-AB1C-101D-D070-E7F273842039}"/>
              </a:ext>
            </a:extLst>
          </p:cNvPr>
          <p:cNvSpPr/>
          <p:nvPr/>
        </p:nvSpPr>
        <p:spPr>
          <a:xfrm>
            <a:off x="964692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S16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D3EA57AE-8335-85DE-47CC-79DFC767FD1A}"/>
              </a:ext>
            </a:extLst>
          </p:cNvPr>
          <p:cNvSpPr/>
          <p:nvPr/>
        </p:nvSpPr>
        <p:spPr>
          <a:xfrm>
            <a:off x="10241280" y="2039040"/>
            <a:ext cx="594000" cy="3654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0103DFC5-64C7-A201-4C34-D1474144F0B4}"/>
              </a:ext>
            </a:extLst>
          </p:cNvPr>
          <p:cNvSpPr/>
          <p:nvPr/>
        </p:nvSpPr>
        <p:spPr>
          <a:xfrm>
            <a:off x="1024128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S17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2">
            <a:extLst>
              <a:ext uri="{FF2B5EF4-FFF2-40B4-BE49-F238E27FC236}">
                <a16:creationId xmlns:a16="http://schemas.microsoft.com/office/drawing/2014/main" id="{03B22068-E104-1BCE-A7C2-28627A2B5C93}"/>
              </a:ext>
            </a:extLst>
          </p:cNvPr>
          <p:cNvSpPr/>
          <p:nvPr/>
        </p:nvSpPr>
        <p:spPr>
          <a:xfrm>
            <a:off x="10835640" y="2039040"/>
            <a:ext cx="594000" cy="3654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67628FC1-2B65-07B5-AC1D-57199B105986}"/>
              </a:ext>
            </a:extLst>
          </p:cNvPr>
          <p:cNvSpPr/>
          <p:nvPr/>
        </p:nvSpPr>
        <p:spPr>
          <a:xfrm>
            <a:off x="10835640" y="2139840"/>
            <a:ext cx="5940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60" b="1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S18</a:t>
            </a:r>
            <a:endParaRPr lang="es-CL" sz="8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A1A6A219-7886-A16A-AD63-A897BE471C7B}"/>
              </a:ext>
            </a:extLst>
          </p:cNvPr>
          <p:cNvSpPr/>
          <p:nvPr/>
        </p:nvSpPr>
        <p:spPr>
          <a:xfrm>
            <a:off x="731520" y="2743200"/>
            <a:ext cx="2377080" cy="292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4F0F5A86-AF73-A03E-7691-33FCA3AA45F3}"/>
              </a:ext>
            </a:extLst>
          </p:cNvPr>
          <p:cNvSpPr/>
          <p:nvPr/>
        </p:nvSpPr>
        <p:spPr>
          <a:xfrm>
            <a:off x="804600" y="2807280"/>
            <a:ext cx="2230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Definición + backlog</a:t>
            </a:r>
            <a:endParaRPr lang="es-CL" sz="8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6">
            <a:extLst>
              <a:ext uri="{FF2B5EF4-FFF2-40B4-BE49-F238E27FC236}">
                <a16:creationId xmlns:a16="http://schemas.microsoft.com/office/drawing/2014/main" id="{3E00BA4E-DF39-DFC5-F3AE-800D10731231}"/>
              </a:ext>
            </a:extLst>
          </p:cNvPr>
          <p:cNvSpPr/>
          <p:nvPr/>
        </p:nvSpPr>
        <p:spPr>
          <a:xfrm>
            <a:off x="3108960" y="3200400"/>
            <a:ext cx="594000" cy="292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9E86BCDE-9C85-EA8E-E418-6E2125719720}"/>
              </a:ext>
            </a:extLst>
          </p:cNvPr>
          <p:cNvSpPr/>
          <p:nvPr/>
        </p:nvSpPr>
        <p:spPr>
          <a:xfrm>
            <a:off x="3182040" y="3264480"/>
            <a:ext cx="447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Sprint 0</a:t>
            </a:r>
            <a:endParaRPr lang="es-CL" sz="8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8">
            <a:extLst>
              <a:ext uri="{FF2B5EF4-FFF2-40B4-BE49-F238E27FC236}">
                <a16:creationId xmlns:a16="http://schemas.microsoft.com/office/drawing/2014/main" id="{F8B8F9A2-3420-BF2E-84D6-E607C2776AF1}"/>
              </a:ext>
            </a:extLst>
          </p:cNvPr>
          <p:cNvSpPr/>
          <p:nvPr/>
        </p:nvSpPr>
        <p:spPr>
          <a:xfrm>
            <a:off x="3703320" y="3657600"/>
            <a:ext cx="1188360" cy="29232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78F24567-A7AE-0153-5A70-5A0FD0417E31}"/>
              </a:ext>
            </a:extLst>
          </p:cNvPr>
          <p:cNvSpPr/>
          <p:nvPr/>
        </p:nvSpPr>
        <p:spPr>
          <a:xfrm>
            <a:off x="3776400" y="3721680"/>
            <a:ext cx="1042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Sprint 1 · diagnóstico + ML Kit</a:t>
            </a:r>
            <a:endParaRPr lang="es-CL" sz="8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50">
            <a:extLst>
              <a:ext uri="{FF2B5EF4-FFF2-40B4-BE49-F238E27FC236}">
                <a16:creationId xmlns:a16="http://schemas.microsoft.com/office/drawing/2014/main" id="{48FE7C26-7F87-9AAD-AD96-C69E3E66D12F}"/>
              </a:ext>
            </a:extLst>
          </p:cNvPr>
          <p:cNvSpPr/>
          <p:nvPr/>
        </p:nvSpPr>
        <p:spPr>
          <a:xfrm>
            <a:off x="4892040" y="4114800"/>
            <a:ext cx="1188360" cy="292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78F03353-30AA-8469-FD50-BC82AA9675B5}"/>
              </a:ext>
            </a:extLst>
          </p:cNvPr>
          <p:cNvSpPr/>
          <p:nvPr/>
        </p:nvSpPr>
        <p:spPr>
          <a:xfrm>
            <a:off x="4965120" y="4178880"/>
            <a:ext cx="1042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Sprint 2 · motor + progreso</a:t>
            </a:r>
            <a:endParaRPr lang="es-CL" sz="8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2">
            <a:extLst>
              <a:ext uri="{FF2B5EF4-FFF2-40B4-BE49-F238E27FC236}">
                <a16:creationId xmlns:a16="http://schemas.microsoft.com/office/drawing/2014/main" id="{B08C8A36-1BD4-1BC3-FB14-A36307181678}"/>
              </a:ext>
            </a:extLst>
          </p:cNvPr>
          <p:cNvSpPr/>
          <p:nvPr/>
        </p:nvSpPr>
        <p:spPr>
          <a:xfrm>
            <a:off x="6080760" y="4572000"/>
            <a:ext cx="1188360" cy="292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3">
            <a:extLst>
              <a:ext uri="{FF2B5EF4-FFF2-40B4-BE49-F238E27FC236}">
                <a16:creationId xmlns:a16="http://schemas.microsoft.com/office/drawing/2014/main" id="{8090E511-BEEB-4113-3A87-26EFAFE39E19}"/>
              </a:ext>
            </a:extLst>
          </p:cNvPr>
          <p:cNvSpPr/>
          <p:nvPr/>
        </p:nvSpPr>
        <p:spPr>
          <a:xfrm>
            <a:off x="6153840" y="4636080"/>
            <a:ext cx="1042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Sprint 3 · offline + </a:t>
            </a:r>
            <a:r>
              <a:rPr lang="es-CL" sz="880" b="1" u="none" strike="noStrike" noProof="0" dirty="0" err="1">
                <a:solidFill>
                  <a:srgbClr val="FFFFFF"/>
                </a:solidFill>
                <a:effectLst/>
                <a:uFillTx/>
                <a:latin typeface="Inter"/>
              </a:rPr>
              <a:t>sync</a:t>
            </a:r>
            <a:endParaRPr lang="es-CL" sz="8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54">
            <a:extLst>
              <a:ext uri="{FF2B5EF4-FFF2-40B4-BE49-F238E27FC236}">
                <a16:creationId xmlns:a16="http://schemas.microsoft.com/office/drawing/2014/main" id="{06CFCED2-2F92-5A86-00DD-B8B4523413A9}"/>
              </a:ext>
            </a:extLst>
          </p:cNvPr>
          <p:cNvSpPr/>
          <p:nvPr/>
        </p:nvSpPr>
        <p:spPr>
          <a:xfrm>
            <a:off x="7269480" y="5029200"/>
            <a:ext cx="2377080" cy="29232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1270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6076CB25-6DAC-BFE8-FFAC-E0710114D20E}"/>
              </a:ext>
            </a:extLst>
          </p:cNvPr>
          <p:cNvSpPr/>
          <p:nvPr/>
        </p:nvSpPr>
        <p:spPr>
          <a:xfrm>
            <a:off x="7342560" y="5093280"/>
            <a:ext cx="2230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Reportería + integración + pruebas</a:t>
            </a:r>
            <a:endParaRPr lang="es-CL" sz="8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6">
            <a:extLst>
              <a:ext uri="{FF2B5EF4-FFF2-40B4-BE49-F238E27FC236}">
                <a16:creationId xmlns:a16="http://schemas.microsoft.com/office/drawing/2014/main" id="{A3C15D70-F194-7051-42BB-910919D66B45}"/>
              </a:ext>
            </a:extLst>
          </p:cNvPr>
          <p:cNvSpPr/>
          <p:nvPr/>
        </p:nvSpPr>
        <p:spPr>
          <a:xfrm>
            <a:off x="9646920" y="5486400"/>
            <a:ext cx="1782720" cy="29232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7">
            <a:extLst>
              <a:ext uri="{FF2B5EF4-FFF2-40B4-BE49-F238E27FC236}">
                <a16:creationId xmlns:a16="http://schemas.microsoft.com/office/drawing/2014/main" id="{7F38F63F-FCEA-5B69-79FD-082F6BE98CDA}"/>
              </a:ext>
            </a:extLst>
          </p:cNvPr>
          <p:cNvSpPr/>
          <p:nvPr/>
        </p:nvSpPr>
        <p:spPr>
          <a:xfrm>
            <a:off x="9720000" y="5550480"/>
            <a:ext cx="1636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880" b="1" u="none" strike="noStrike" noProof="0" dirty="0" err="1">
                <a:solidFill>
                  <a:srgbClr val="FFFFFF"/>
                </a:solidFill>
                <a:effectLst/>
                <a:uFillTx/>
                <a:latin typeface="Inter"/>
              </a:rPr>
              <a:t>Build</a:t>
            </a:r>
            <a:r>
              <a:rPr lang="es-CL" sz="88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 + documentación + cierre</a:t>
            </a:r>
            <a:endParaRPr lang="es-CL" sz="8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8">
            <a:extLst>
              <a:ext uri="{FF2B5EF4-FFF2-40B4-BE49-F238E27FC236}">
                <a16:creationId xmlns:a16="http://schemas.microsoft.com/office/drawing/2014/main" id="{AE999D9B-9947-D833-45D3-A96C2DB56EC6}"/>
              </a:ext>
            </a:extLst>
          </p:cNvPr>
          <p:cNvSpPr/>
          <p:nvPr/>
        </p:nvSpPr>
        <p:spPr>
          <a:xfrm>
            <a:off x="749880" y="6053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1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Revisión y validación con cliente al cierre de cada sprint</a:t>
            </a:r>
            <a:endParaRPr lang="es-CL" sz="11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9">
            <a:extLst>
              <a:ext uri="{FF2B5EF4-FFF2-40B4-BE49-F238E27FC236}">
                <a16:creationId xmlns:a16="http://schemas.microsoft.com/office/drawing/2014/main" id="{77515F6E-D566-985B-52F7-62E041ECB29F}"/>
              </a:ext>
            </a:extLst>
          </p:cNvPr>
          <p:cNvSpPr/>
          <p:nvPr/>
        </p:nvSpPr>
        <p:spPr>
          <a:xfrm>
            <a:off x="5577840" y="6053400"/>
            <a:ext cx="5577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1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</a:rPr>
              <a:t>Backlog refinado de forma continua · retrospectivas breves por sprint</a:t>
            </a:r>
            <a:endParaRPr lang="es-CL" sz="11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364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D314DA9-7B34-BE22-A66D-211391AA6BAF}"/>
              </a:ext>
            </a:extLst>
          </p:cNvPr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7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6. Reportería y criterio de éxito del MVP</a:t>
            </a:r>
            <a:endParaRPr lang="es-CL" sz="27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06D838F-1EEF-8B44-B231-2E31FB4DD550}"/>
              </a:ext>
            </a:extLst>
          </p:cNvPr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La Fase 1 deja definido qué debe demostrar el producto al cierre.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0B75E3B-DC78-A462-61E0-EBD25E6E76BF}"/>
              </a:ext>
            </a:extLst>
          </p:cNvPr>
          <p:cNvSpPr/>
          <p:nvPr/>
        </p:nvSpPr>
        <p:spPr>
          <a:xfrm>
            <a:off x="731520" y="1417320"/>
            <a:ext cx="3657240" cy="429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FD98685-9F07-B20A-9B2C-47D1AACCBCBF}"/>
              </a:ext>
            </a:extLst>
          </p:cNvPr>
          <p:cNvSpPr/>
          <p:nvPr/>
        </p:nvSpPr>
        <p:spPr>
          <a:xfrm>
            <a:off x="987480" y="17190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0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Capacidad de reportería</a:t>
            </a:r>
            <a:endParaRPr lang="es-CL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88346AD7-2EA3-FC0B-F883-192F34C14B0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87480" y="23317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FDC9AA0C-A849-5592-73F1-C1CA28AC84B1}"/>
              </a:ext>
            </a:extLst>
          </p:cNvPr>
          <p:cNvSpPr/>
          <p:nvPr/>
        </p:nvSpPr>
        <p:spPr>
          <a:xfrm>
            <a:off x="1664280" y="233172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PDF</a:t>
            </a:r>
            <a:endParaRPr lang="es-CL" sz="15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558F86B-8E59-E278-8B2B-7C59279C9BE8}"/>
              </a:ext>
            </a:extLst>
          </p:cNvPr>
          <p:cNvSpPr/>
          <p:nvPr/>
        </p:nvSpPr>
        <p:spPr>
          <a:xfrm>
            <a:off x="1664280" y="2651760"/>
            <a:ext cx="223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Informe de progreso individual y, si aplica, grupal.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290EDA19-6A60-9E4A-C82C-675E11657FE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87480" y="34016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 6">
            <a:extLst>
              <a:ext uri="{FF2B5EF4-FFF2-40B4-BE49-F238E27FC236}">
                <a16:creationId xmlns:a16="http://schemas.microsoft.com/office/drawing/2014/main" id="{DD4837E8-CC65-E05B-8520-8E1B6E55833B}"/>
              </a:ext>
            </a:extLst>
          </p:cNvPr>
          <p:cNvSpPr/>
          <p:nvPr/>
        </p:nvSpPr>
        <p:spPr>
          <a:xfrm>
            <a:off x="1664280" y="340164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Excel</a:t>
            </a:r>
            <a:endParaRPr lang="es-CL" sz="15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7BCD4BCF-DFB0-5B51-0E9B-153EDC4E2D67}"/>
              </a:ext>
            </a:extLst>
          </p:cNvPr>
          <p:cNvSpPr/>
          <p:nvPr/>
        </p:nvSpPr>
        <p:spPr>
          <a:xfrm>
            <a:off x="1664280" y="3721680"/>
            <a:ext cx="223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Resultados, intentos, tiempos y progreso para análisis.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E3438AE7-6387-4F83-DDC7-2CF725B87DE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87480" y="44989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8EC9E6D1-5596-B59A-D017-C2EB850D9620}"/>
              </a:ext>
            </a:extLst>
          </p:cNvPr>
          <p:cNvSpPr/>
          <p:nvPr/>
        </p:nvSpPr>
        <p:spPr>
          <a:xfrm>
            <a:off x="1664280" y="449892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5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Seguimiento</a:t>
            </a:r>
            <a:endParaRPr lang="es-CL" sz="15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9FE749F4-7F17-B68A-7F5C-8A1B302F45BD}"/>
              </a:ext>
            </a:extLst>
          </p:cNvPr>
          <p:cNvSpPr/>
          <p:nvPr/>
        </p:nvSpPr>
        <p:spPr>
          <a:xfrm>
            <a:off x="1664280" y="4818960"/>
            <a:ext cx="223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50" b="0" u="none" strike="noStrike" noProof="0" dirty="0">
                <a:solidFill>
                  <a:srgbClr val="475569"/>
                </a:solidFill>
                <a:effectLst/>
                <a:uFillTx/>
                <a:latin typeface="Inter"/>
              </a:rPr>
              <a:t>Visualización de avance para estudiante y docente opcional.</a:t>
            </a:r>
            <a:endParaRPr lang="es-CL" sz="11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1A371259-ADCA-B844-87C0-F4904AFFCE7E}"/>
              </a:ext>
            </a:extLst>
          </p:cNvPr>
          <p:cNvSpPr/>
          <p:nvPr/>
        </p:nvSpPr>
        <p:spPr>
          <a:xfrm>
            <a:off x="4709160" y="1417320"/>
            <a:ext cx="6720480" cy="4297320"/>
          </a:xfrm>
          <a:prstGeom prst="roundRect">
            <a:avLst>
              <a:gd name="adj" fmla="val 3830"/>
            </a:avLst>
          </a:prstGeom>
          <a:solidFill>
            <a:srgbClr val="F0FDFA"/>
          </a:solidFill>
          <a:ln w="12700">
            <a:solidFill>
              <a:srgbClr val="99F6E4"/>
            </a:solidFill>
            <a:round/>
          </a:ln>
          <a:effectLst>
            <a:outerShdw blurRad="19080" dist="50402" dir="2700000" algn="bl" rotWithShape="0">
              <a:srgbClr val="CBD5E1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2842BF3D-989F-701A-397D-37B89797B7FF}"/>
              </a:ext>
            </a:extLst>
          </p:cNvPr>
          <p:cNvSpPr/>
          <p:nvPr/>
        </p:nvSpPr>
        <p:spPr>
          <a:xfrm>
            <a:off x="5010840" y="173736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2000" b="1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El MVP será exitoso si demuestra:</a:t>
            </a:r>
            <a:endParaRPr lang="es-CL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C42B51BE-0AC6-101E-6C85-F57590FB37D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29200" y="233172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2">
            <a:extLst>
              <a:ext uri="{FF2B5EF4-FFF2-40B4-BE49-F238E27FC236}">
                <a16:creationId xmlns:a16="http://schemas.microsoft.com/office/drawing/2014/main" id="{1DE868B9-FB54-5885-4D55-DE3DEB22FBCE}"/>
              </a:ext>
            </a:extLst>
          </p:cNvPr>
          <p:cNvSpPr/>
          <p:nvPr/>
        </p:nvSpPr>
        <p:spPr>
          <a:xfrm>
            <a:off x="5440680" y="2286000"/>
            <a:ext cx="5348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5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Flujo autónomo: diagnóstico → práctica → corrección → siguiente actividad.</a:t>
            </a:r>
            <a:endParaRPr lang="es-CL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3C0310ED-6574-072D-1C30-ACFC01F677C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29200" y="291708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7A863744-016F-3A7B-AC7B-190656AE72DD}"/>
              </a:ext>
            </a:extLst>
          </p:cNvPr>
          <p:cNvSpPr/>
          <p:nvPr/>
        </p:nvSpPr>
        <p:spPr>
          <a:xfrm>
            <a:off x="5440680" y="2871360"/>
            <a:ext cx="5348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5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Reconocimiento manuscrito de un conjunto acotado de números y signos.</a:t>
            </a:r>
            <a:endParaRPr lang="es-CL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5" descr="preencoded.png">
            <a:extLst>
              <a:ext uri="{FF2B5EF4-FFF2-40B4-BE49-F238E27FC236}">
                <a16:creationId xmlns:a16="http://schemas.microsoft.com/office/drawing/2014/main" id="{9409661E-6DF6-C9DF-CB09-EC3AEE0CF4D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29200" y="350208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6EC22D3E-28FF-5B83-1716-D2E40AEBEC53}"/>
              </a:ext>
            </a:extLst>
          </p:cNvPr>
          <p:cNvSpPr/>
          <p:nvPr/>
        </p:nvSpPr>
        <p:spPr>
          <a:xfrm>
            <a:off x="5440680" y="3456360"/>
            <a:ext cx="5348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5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Motor adaptativo basado en reglas verificables.</a:t>
            </a:r>
            <a:endParaRPr lang="es-CL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6" descr="preencoded.png">
            <a:extLst>
              <a:ext uri="{FF2B5EF4-FFF2-40B4-BE49-F238E27FC236}">
                <a16:creationId xmlns:a16="http://schemas.microsoft.com/office/drawing/2014/main" id="{FA87E127-12FA-A0D2-6D58-9F87FBDB51E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29200" y="40874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15">
            <a:extLst>
              <a:ext uri="{FF2B5EF4-FFF2-40B4-BE49-F238E27FC236}">
                <a16:creationId xmlns:a16="http://schemas.microsoft.com/office/drawing/2014/main" id="{A4899AA9-990D-67AA-FF09-53A090B4E38E}"/>
              </a:ext>
            </a:extLst>
          </p:cNvPr>
          <p:cNvSpPr/>
          <p:nvPr/>
        </p:nvSpPr>
        <p:spPr>
          <a:xfrm>
            <a:off x="5440680" y="4041720"/>
            <a:ext cx="5348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5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Persistencia local y sincronización al recuperar conexión.</a:t>
            </a:r>
            <a:endParaRPr lang="es-CL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8773071A-5A99-0BD9-9C2E-EE4D418985F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29200" y="46724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6">
            <a:extLst>
              <a:ext uri="{FF2B5EF4-FFF2-40B4-BE49-F238E27FC236}">
                <a16:creationId xmlns:a16="http://schemas.microsoft.com/office/drawing/2014/main" id="{7C281D6A-C227-468A-74B5-FC8935777F9A}"/>
              </a:ext>
            </a:extLst>
          </p:cNvPr>
          <p:cNvSpPr/>
          <p:nvPr/>
        </p:nvSpPr>
        <p:spPr>
          <a:xfrm>
            <a:off x="5440680" y="4626720"/>
            <a:ext cx="5348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250" b="0" u="none" strike="noStrike" noProof="0" dirty="0">
                <a:solidFill>
                  <a:srgbClr val="0F172A"/>
                </a:solidFill>
                <a:effectLst/>
                <a:uFillTx/>
                <a:latin typeface="Inter"/>
              </a:rPr>
              <a:t>Registro de progreso y exportación básica de reportes.</a:t>
            </a:r>
            <a:endParaRPr lang="es-CL" sz="12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40AB4F84-20CB-45A7-D3E3-28E5127FD802}"/>
              </a:ext>
            </a:extLst>
          </p:cNvPr>
          <p:cNvSpPr/>
          <p:nvPr/>
        </p:nvSpPr>
        <p:spPr>
          <a:xfrm>
            <a:off x="1828800" y="5943600"/>
            <a:ext cx="8503560" cy="4021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L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DB432A6C-011F-41B6-4059-017B6A823D7E}"/>
              </a:ext>
            </a:extLst>
          </p:cNvPr>
          <p:cNvSpPr/>
          <p:nvPr/>
        </p:nvSpPr>
        <p:spPr>
          <a:xfrm>
            <a:off x="1965960" y="6053400"/>
            <a:ext cx="82292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L" sz="1140" b="1" u="none" strike="noStrike" noProof="0" dirty="0">
                <a:solidFill>
                  <a:srgbClr val="FFFFFF"/>
                </a:solidFill>
                <a:effectLst/>
                <a:uFillTx/>
                <a:latin typeface="Inter"/>
              </a:rPr>
              <a:t>K-Mat IA busca aumentar la autonomía del estudiante y la productividad del seguimiento docente.</a:t>
            </a:r>
            <a:endParaRPr lang="es-CL" sz="114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05476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E9B333DB6BAEE4EACFEB140225CCCFA" ma:contentTypeVersion="14" ma:contentTypeDescription="Crear nuevo documento." ma:contentTypeScope="" ma:versionID="e691653099f088575ed3454864bd8263">
  <xsd:schema xmlns:xsd="http://www.w3.org/2001/XMLSchema" xmlns:xs="http://www.w3.org/2001/XMLSchema" xmlns:p="http://schemas.microsoft.com/office/2006/metadata/properties" xmlns:ns3="f19e3217-a665-4b27-994f-da5dd979666e" xmlns:ns4="3ecebc85-b0f0-441b-86c2-d3face5ec8eb" targetNamespace="http://schemas.microsoft.com/office/2006/metadata/properties" ma:root="true" ma:fieldsID="085332458a506021f896d5ea2e63d860" ns3:_="" ns4:_="">
    <xsd:import namespace="f19e3217-a665-4b27-994f-da5dd979666e"/>
    <xsd:import namespace="3ecebc85-b0f0-441b-86c2-d3face5ec8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9e3217-a665-4b27-994f-da5dd9796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ebc85-b0f0-441b-86c2-d3face5ec8e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0DBDB8-A0AC-4448-8FA3-8C3C17ECF8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9e3217-a665-4b27-994f-da5dd979666e"/>
    <ds:schemaRef ds:uri="3ecebc85-b0f0-441b-86c2-d3face5ec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ABBAB7-3F5B-4086-B60B-8EEF7DB38B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1430AE-74C6-4010-B944-366A36F073B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764</Words>
  <Application>Microsoft Office PowerPoint</Application>
  <PresentationFormat>Panorámica</PresentationFormat>
  <Paragraphs>140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Inter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SAMUEL VIDAL ÑANCUPIL (Alumno)</dc:creator>
  <cp:lastModifiedBy>FERNANDO SAMUEL VIDAL ÑANCUPIL (Alumno)</cp:lastModifiedBy>
  <cp:revision>1</cp:revision>
  <dcterms:created xsi:type="dcterms:W3CDTF">2026-09-12T06:30:59Z</dcterms:created>
  <dcterms:modified xsi:type="dcterms:W3CDTF">2026-09-12T06:38:29Z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0x0101007E9B333DB6BAEE4EACFEB140225CCCFA</vt:lpwstr>
  </property>
</Properties>
</file>