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z3CxXtZo5oCfNz9na8x/kKcYA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F5C99"/>
            </a:gs>
            <a:gs pos="97000">
              <a:srgbClr val="72C4E9"/>
            </a:gs>
            <a:gs pos="100000">
              <a:srgbClr val="72C4E9"/>
            </a:gs>
          </a:gsLst>
          <a:lin ang="54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85800" y="1051560"/>
            <a:ext cx="5486040" cy="74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K-Mat IA</a:t>
            </a:r>
            <a:endParaRPr b="0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13160" y="1856160"/>
            <a:ext cx="63090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000" u="none" cap="none" strike="noStrike">
                <a:solidFill>
                  <a:srgbClr val="CCFBF1"/>
                </a:solidFill>
                <a:latin typeface="Inter"/>
                <a:ea typeface="Inter"/>
                <a:cs typeface="Inter"/>
                <a:sym typeface="Inter"/>
              </a:rPr>
              <a:t>Plataforma educativa adaptativa de matemáticas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31520" y="2514600"/>
            <a:ext cx="42973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00" u="none" cap="none" strike="noStrike">
                <a:solidFill>
                  <a:srgbClr val="F2F2F2"/>
                </a:solidFill>
                <a:latin typeface="Inter"/>
                <a:ea typeface="Inter"/>
                <a:cs typeface="Inter"/>
                <a:sym typeface="Inter"/>
              </a:rPr>
              <a:t>Fase 1 · Definición del Proyecto APT</a:t>
            </a:r>
            <a:endParaRPr b="0" i="0" sz="13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31520" y="3035880"/>
            <a:ext cx="65833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Práctica autónoma  ·  escritura manuscrita  ·  adaptación  ·  offline-first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8549640" y="1234440"/>
            <a:ext cx="2422800" cy="3474360"/>
          </a:xfrm>
          <a:prstGeom prst="roundRect">
            <a:avLst>
              <a:gd fmla="val 16667" name="adj"/>
            </a:avLst>
          </a:prstGeom>
          <a:solidFill>
            <a:srgbClr val="0B1220"/>
          </a:solidFill>
          <a:ln cap="flat" cmpd="sng" w="254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823960" y="1572840"/>
            <a:ext cx="1874160" cy="24868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9070920" y="2030040"/>
            <a:ext cx="10969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8 + 5 =</a:t>
            </a:r>
            <a:endParaRPr b="0" sz="2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345240" y="2743200"/>
            <a:ext cx="73116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3800" u="none" strike="noStrik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sz="3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92" name="Google Shape;92;p1"/>
          <p:cNvSpPr/>
          <p:nvPr/>
        </p:nvSpPr>
        <p:spPr>
          <a:xfrm>
            <a:off x="10058400" y="3950280"/>
            <a:ext cx="639720" cy="63972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3" name="Google Shape;93;p1"/>
          <p:cNvCxnSpPr/>
          <p:nvPr/>
        </p:nvCxnSpPr>
        <p:spPr>
          <a:xfrm flipH="1" rot="10800000">
            <a:off x="10378440" y="3684960"/>
            <a:ext cx="658080" cy="502920"/>
          </a:xfrm>
          <a:prstGeom prst="straightConnector1">
            <a:avLst/>
          </a:prstGeom>
          <a:noFill/>
          <a:ln cap="flat" cmpd="sng" w="381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"/>
          <p:cNvSpPr/>
          <p:nvPr/>
        </p:nvSpPr>
        <p:spPr>
          <a:xfrm>
            <a:off x="731520" y="3803760"/>
            <a:ext cx="1508400" cy="310680"/>
          </a:xfrm>
          <a:prstGeom prst="roundRect">
            <a:avLst>
              <a:gd fmla="val 16667" name="adj"/>
            </a:avLst>
          </a:prstGeom>
          <a:solidFill>
            <a:srgbClr val="134E4A"/>
          </a:solidFill>
          <a:ln cap="flat" cmpd="sng" w="12700">
            <a:solidFill>
              <a:srgbClr val="134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04600" y="3863520"/>
            <a:ext cx="13622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99F6E4"/>
                </a:solidFill>
                <a:latin typeface="Inter"/>
                <a:ea typeface="Inter"/>
                <a:cs typeface="Inter"/>
                <a:sym typeface="Inter"/>
              </a:rPr>
              <a:t>Android-first</a:t>
            </a:r>
            <a:endParaRPr b="0" sz="93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2377440" y="3803760"/>
            <a:ext cx="1919880" cy="310680"/>
          </a:xfrm>
          <a:prstGeom prst="roundRect">
            <a:avLst>
              <a:gd fmla="val 16667" name="adj"/>
            </a:avLst>
          </a:prstGeom>
          <a:solidFill>
            <a:srgbClr val="0C4A6E"/>
          </a:solidFill>
          <a:ln cap="flat" cmpd="sng" w="1270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450520" y="3863520"/>
            <a:ext cx="17737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MVP 10</a:t>
            </a:r>
            <a:r>
              <a:rPr b="1" lang="es-CL" sz="930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-12 </a:t>
            </a:r>
            <a:r>
              <a:rPr b="1" lang="es-CL" sz="930" u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semanas</a:t>
            </a:r>
            <a:endParaRPr b="0" sz="93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4434840" y="3803760"/>
            <a:ext cx="1508400" cy="310680"/>
          </a:xfrm>
          <a:prstGeom prst="roundRect">
            <a:avLst>
              <a:gd fmla="val 16667" name="adj"/>
            </a:avLst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4507920" y="3863520"/>
            <a:ext cx="13622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1°–2° Básico</a:t>
            </a:r>
            <a:endParaRPr b="0" sz="93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731520" y="4800600"/>
            <a:ext cx="42058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Cliente: Cristián Gómez · TriskelEdu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731520" y="5184720"/>
            <a:ext cx="5668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 u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Equipo: Fernando Vidal · Matías Gallardo · Patricio Quijada</a:t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731520" y="5577840"/>
            <a:ext cx="40230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00" u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Ingeniería en Informática · Duoc UC</a:t>
            </a:r>
            <a:endParaRPr b="0" sz="1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7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Situación problemática</a:t>
            </a:r>
            <a:endParaRPr b="0" sz="2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 desafío es convertir una práctica normalmente guiada y revisada manualmente en una experiencia digital, autónoma y medible.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85800" y="1417320"/>
            <a:ext cx="5166000" cy="425160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914400" y="1664280"/>
            <a:ext cx="1051200" cy="31068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987480" y="1723680"/>
            <a:ext cx="9050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NECESIDAD</a:t>
            </a:r>
            <a:endParaRPr b="0" sz="9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914400" y="2267640"/>
            <a:ext cx="82080" cy="8208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115640" y="2148840"/>
            <a:ext cx="4324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314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 práctica matemática progresiva requiere corrección y seguimiento frecuente.</a:t>
            </a:r>
            <a:endParaRPr b="0" sz="1314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914400" y="3026520"/>
            <a:ext cx="82080" cy="8208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115640" y="2907720"/>
            <a:ext cx="4324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314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 estudiante necesita retroalimentación inmediata para saber si debe avanzar o reforzar.</a:t>
            </a:r>
            <a:endParaRPr b="0" sz="1314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914400" y="3785760"/>
            <a:ext cx="82080" cy="8208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1115640" y="3666600"/>
            <a:ext cx="4324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314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 conectividad puede ser intermitente: el flujo principal no debería depender siempre de Internet.</a:t>
            </a:r>
            <a:endParaRPr b="0" sz="1314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914400" y="4544640"/>
            <a:ext cx="82080" cy="8208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115640" y="4425840"/>
            <a:ext cx="4324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314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 docente necesita información de progreso sin transformarse en un requisito para cada sesión.</a:t>
            </a:r>
            <a:endParaRPr b="0" sz="1314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172200" y="1417320"/>
            <a:ext cx="5321520" cy="4251600"/>
          </a:xfrm>
          <a:prstGeom prst="roundRect">
            <a:avLst>
              <a:gd fmla="val 3871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6419160" y="1664280"/>
            <a:ext cx="1627200" cy="310680"/>
          </a:xfrm>
          <a:prstGeom prst="roundRect">
            <a:avLst>
              <a:gd fmla="val 16667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492240" y="1723680"/>
            <a:ext cx="148104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OBJETIVO DEL MVP</a:t>
            </a:r>
            <a:endParaRPr b="0" sz="9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23" name="Google Shape;123;p2"/>
          <p:cNvSpPr/>
          <p:nvPr/>
        </p:nvSpPr>
        <p:spPr>
          <a:xfrm>
            <a:off x="6446520" y="2240280"/>
            <a:ext cx="639720" cy="63972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7251120" y="2249280"/>
            <a:ext cx="36115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Autonomía del estudiante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446520" y="2788920"/>
            <a:ext cx="43704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43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 pueda diagnosticar su nivel, practicar, recibir corrección y continuar sin supervisión permanente.</a:t>
            </a:r>
            <a:endParaRPr b="0" sz="14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2"/>
          <p:cNvCxnSpPr/>
          <p:nvPr/>
        </p:nvCxnSpPr>
        <p:spPr>
          <a:xfrm>
            <a:off x="6446520" y="3675600"/>
            <a:ext cx="4343400" cy="360"/>
          </a:xfrm>
          <a:prstGeom prst="straightConnector1">
            <a:avLst/>
          </a:prstGeom>
          <a:noFill/>
          <a:ln cap="flat" cmpd="sng" w="152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preencoded.png" id="127" name="Google Shape;127;p2"/>
          <p:cNvSpPr/>
          <p:nvPr/>
        </p:nvSpPr>
        <p:spPr>
          <a:xfrm>
            <a:off x="6446520" y="4005000"/>
            <a:ext cx="594000" cy="5940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"/>
          <p:cNvSpPr/>
          <p:nvPr/>
        </p:nvSpPr>
        <p:spPr>
          <a:xfrm>
            <a:off x="7251120" y="4041720"/>
            <a:ext cx="347436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Profesor como capa opcional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6446520" y="4526280"/>
            <a:ext cx="43704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3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Puede vincular estudiantes a una clase, revisar progreso e intervenir cuando sea necesario.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868680" y="5897880"/>
            <a:ext cx="103323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8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Público objetivo del MVP: 1° y 2° Básico · Tablet/teléfono Android</a:t>
            </a:r>
            <a:endParaRPr b="0" sz="12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7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Propuesta de solución</a:t>
            </a:r>
            <a:endParaRPr b="0" sz="2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K-Mat IA organiza la práctica en un flujo autónomo, trazable y adaptativo.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85800" y="1691640"/>
            <a:ext cx="1718640" cy="2304000"/>
          </a:xfrm>
          <a:prstGeom prst="roundRect">
            <a:avLst>
              <a:gd fmla="val 957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38" name="Google Shape;138;p3"/>
          <p:cNvSpPr/>
          <p:nvPr/>
        </p:nvSpPr>
        <p:spPr>
          <a:xfrm>
            <a:off x="1271160" y="1938600"/>
            <a:ext cx="566640" cy="56664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"/>
          <p:cNvSpPr/>
          <p:nvPr/>
        </p:nvSpPr>
        <p:spPr>
          <a:xfrm>
            <a:off x="795600" y="2670120"/>
            <a:ext cx="1499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Diagnóstico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822960" y="3063240"/>
            <a:ext cx="144432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Ubica un punto de inicio.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3"/>
          <p:cNvCxnSpPr/>
          <p:nvPr/>
        </p:nvCxnSpPr>
        <p:spPr>
          <a:xfrm>
            <a:off x="2441160" y="2834640"/>
            <a:ext cx="329400" cy="36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3"/>
          <p:cNvSpPr/>
          <p:nvPr/>
        </p:nvSpPr>
        <p:spPr>
          <a:xfrm>
            <a:off x="2834640" y="1691640"/>
            <a:ext cx="1718640" cy="2304000"/>
          </a:xfrm>
          <a:prstGeom prst="roundRect">
            <a:avLst>
              <a:gd fmla="val 9574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43" name="Google Shape;143;p3"/>
          <p:cNvSpPr/>
          <p:nvPr/>
        </p:nvSpPr>
        <p:spPr>
          <a:xfrm>
            <a:off x="3420000" y="1938600"/>
            <a:ext cx="566640" cy="56664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"/>
          <p:cNvSpPr/>
          <p:nvPr/>
        </p:nvSpPr>
        <p:spPr>
          <a:xfrm>
            <a:off x="2944440" y="2670120"/>
            <a:ext cx="1499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Práctica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2971800" y="3063240"/>
            <a:ext cx="144432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Presenta ejercicios acotados.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3"/>
          <p:cNvCxnSpPr/>
          <p:nvPr/>
        </p:nvCxnSpPr>
        <p:spPr>
          <a:xfrm>
            <a:off x="4590000" y="2834640"/>
            <a:ext cx="329400" cy="36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3"/>
          <p:cNvSpPr/>
          <p:nvPr/>
        </p:nvSpPr>
        <p:spPr>
          <a:xfrm>
            <a:off x="4983480" y="1691640"/>
            <a:ext cx="1718640" cy="2304000"/>
          </a:xfrm>
          <a:prstGeom prst="roundRect">
            <a:avLst>
              <a:gd fmla="val 957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48" name="Google Shape;148;p3"/>
          <p:cNvSpPr/>
          <p:nvPr/>
        </p:nvSpPr>
        <p:spPr>
          <a:xfrm>
            <a:off x="5568840" y="1938600"/>
            <a:ext cx="566640" cy="56664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3"/>
          <p:cNvSpPr/>
          <p:nvPr/>
        </p:nvSpPr>
        <p:spPr>
          <a:xfrm>
            <a:off x="5093280" y="2670120"/>
            <a:ext cx="1499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Escritura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5120640" y="3063240"/>
            <a:ext cx="144432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Dedo o stylus + reconocimiento.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3"/>
          <p:cNvCxnSpPr/>
          <p:nvPr/>
        </p:nvCxnSpPr>
        <p:spPr>
          <a:xfrm>
            <a:off x="6738840" y="2834640"/>
            <a:ext cx="329400" cy="36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3"/>
          <p:cNvSpPr/>
          <p:nvPr/>
        </p:nvSpPr>
        <p:spPr>
          <a:xfrm>
            <a:off x="7132320" y="1691640"/>
            <a:ext cx="1718640" cy="2304000"/>
          </a:xfrm>
          <a:prstGeom prst="roundRect">
            <a:avLst>
              <a:gd fmla="val 9574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53" name="Google Shape;153;p3"/>
          <p:cNvSpPr/>
          <p:nvPr/>
        </p:nvSpPr>
        <p:spPr>
          <a:xfrm>
            <a:off x="7717680" y="1938600"/>
            <a:ext cx="566640" cy="56664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3"/>
          <p:cNvSpPr/>
          <p:nvPr/>
        </p:nvSpPr>
        <p:spPr>
          <a:xfrm>
            <a:off x="7242120" y="2670120"/>
            <a:ext cx="1499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Adaptación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7269480" y="3063240"/>
            <a:ext cx="144432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Avanza, mantiene o refuerza.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3"/>
          <p:cNvCxnSpPr/>
          <p:nvPr/>
        </p:nvCxnSpPr>
        <p:spPr>
          <a:xfrm>
            <a:off x="8887680" y="2834640"/>
            <a:ext cx="329400" cy="36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3"/>
          <p:cNvSpPr/>
          <p:nvPr/>
        </p:nvSpPr>
        <p:spPr>
          <a:xfrm>
            <a:off x="9281160" y="1691640"/>
            <a:ext cx="1718640" cy="2304000"/>
          </a:xfrm>
          <a:prstGeom prst="roundRect">
            <a:avLst>
              <a:gd fmla="val 957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58" name="Google Shape;158;p3"/>
          <p:cNvSpPr/>
          <p:nvPr/>
        </p:nvSpPr>
        <p:spPr>
          <a:xfrm>
            <a:off x="9866520" y="1938600"/>
            <a:ext cx="566640" cy="56664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"/>
          <p:cNvSpPr/>
          <p:nvPr/>
        </p:nvSpPr>
        <p:spPr>
          <a:xfrm>
            <a:off x="9390960" y="2670120"/>
            <a:ext cx="1499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Progreso</a:t>
            </a:r>
            <a:endParaRPr b="0" sz="15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9418320" y="3063240"/>
            <a:ext cx="144432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Guarda resultados y reporta.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914400" y="4434840"/>
            <a:ext cx="10332360" cy="1234080"/>
          </a:xfrm>
          <a:prstGeom prst="roundRect">
            <a:avLst>
              <a:gd fmla="val 13333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62" name="Google Shape;162;p3"/>
          <p:cNvSpPr/>
          <p:nvPr/>
        </p:nvSpPr>
        <p:spPr>
          <a:xfrm>
            <a:off x="1170360" y="4718160"/>
            <a:ext cx="511560" cy="51156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"/>
          <p:cNvSpPr/>
          <p:nvPr/>
        </p:nvSpPr>
        <p:spPr>
          <a:xfrm>
            <a:off x="1847160" y="4645080"/>
            <a:ext cx="2011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Modo docente opcional</a:t>
            </a:r>
            <a:endParaRPr b="0" sz="16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3794760" y="4572000"/>
            <a:ext cx="699480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28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el estudiante se vincula a una clase, el profesor podrá consultar progreso, detectar dificultades y sugerir continuidad; el flujo autónomo sigue funcionando sin esa vinculación.</a:t>
            </a:r>
            <a:endParaRPr b="0" sz="12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4498920" y="5870520"/>
            <a:ext cx="1645560" cy="310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4572000" y="5929920"/>
            <a:ext cx="149940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MVP CONTROLADO</a:t>
            </a:r>
            <a:endParaRPr b="0" sz="9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6327720" y="5906880"/>
            <a:ext cx="48459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2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Numeración · conteo · secuencias · adición y sustracción básica</a:t>
            </a:r>
            <a:endParaRPr b="0" sz="11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7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Referentes de mercado y factor diferenciador</a:t>
            </a:r>
            <a:endParaRPr b="0" sz="2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propuesta toma aprendizajes de soluciones existentes, pero define un MVP propio y acotado.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713160" y="1481400"/>
            <a:ext cx="3401280" cy="2057040"/>
          </a:xfrm>
          <a:prstGeom prst="roundRect">
            <a:avLst>
              <a:gd fmla="val 8000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932760" y="1719000"/>
            <a:ext cx="1416960" cy="3106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005840" y="1778400"/>
            <a:ext cx="127080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Práctica digital</a:t>
            </a:r>
            <a:endParaRPr b="0" sz="9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932760" y="2212920"/>
            <a:ext cx="28342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Kumon Connect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932760" y="2724840"/>
            <a:ext cx="292572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23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Referencia en digitalización de práctica, tareas y seguimiento.</a:t>
            </a:r>
            <a:endParaRPr b="0" sz="12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498920" y="1481400"/>
            <a:ext cx="3401280" cy="2057040"/>
          </a:xfrm>
          <a:prstGeom prst="roundRect">
            <a:avLst>
              <a:gd fmla="val 8000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4718160" y="1719000"/>
            <a:ext cx="1416960" cy="310680"/>
          </a:xfrm>
          <a:prstGeom prst="roundRect">
            <a:avLst>
              <a:gd fmla="val 16667" name="adj"/>
            </a:avLst>
          </a:prstGeom>
          <a:solidFill>
            <a:srgbClr val="F0FDFA"/>
          </a:solidFill>
          <a:ln cap="flat" cmpd="sng" w="12700">
            <a:solidFill>
              <a:srgbClr val="F0FD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4791600" y="1778400"/>
            <a:ext cx="127080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Experiencia infantil</a:t>
            </a:r>
            <a:endParaRPr b="0" sz="9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718160" y="2212920"/>
            <a:ext cx="28342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Khan Academy Kids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718160" y="2724840"/>
            <a:ext cx="292572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23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Referencia en experiencia guiada, autonomía y retroalimentación.</a:t>
            </a:r>
            <a:endParaRPr b="0" sz="12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8284320" y="1481400"/>
            <a:ext cx="3401280" cy="2057040"/>
          </a:xfrm>
          <a:prstGeom prst="roundRect">
            <a:avLst>
              <a:gd fmla="val 8000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8503920" y="1719000"/>
            <a:ext cx="1416960" cy="31068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FFF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8577000" y="1778400"/>
            <a:ext cx="127080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Interactividad</a:t>
            </a:r>
            <a:endParaRPr b="0" sz="9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8503920" y="2212920"/>
            <a:ext cx="28342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Matific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8503920" y="2724840"/>
            <a:ext cx="292572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23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Referencia en actividades matemáticas interactivas y motivación.</a:t>
            </a:r>
            <a:endParaRPr b="0" sz="12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749880" y="3886200"/>
            <a:ext cx="42058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2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Diferenciador propuesto para K-Mat IA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90" name="Google Shape;190;p4"/>
          <p:cNvSpPr/>
          <p:nvPr/>
        </p:nvSpPr>
        <p:spPr>
          <a:xfrm>
            <a:off x="749880" y="4480560"/>
            <a:ext cx="383760" cy="38376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4"/>
          <p:cNvSpPr/>
          <p:nvPr/>
        </p:nvSpPr>
        <p:spPr>
          <a:xfrm>
            <a:off x="1252800" y="4425840"/>
            <a:ext cx="19929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Offline-first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749880" y="4892040"/>
            <a:ext cx="250524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8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Práctica y progreso local con sincronización posterior.</a:t>
            </a:r>
            <a:endParaRPr b="0" sz="10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93" name="Google Shape;193;p4"/>
          <p:cNvSpPr/>
          <p:nvPr/>
        </p:nvSpPr>
        <p:spPr>
          <a:xfrm>
            <a:off x="3520440" y="4480560"/>
            <a:ext cx="383760" cy="38376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4"/>
          <p:cNvSpPr/>
          <p:nvPr/>
        </p:nvSpPr>
        <p:spPr>
          <a:xfrm>
            <a:off x="4023360" y="4425840"/>
            <a:ext cx="19929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Escritura digital local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3520440" y="4892040"/>
            <a:ext cx="250524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8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Reconocimiento de trazos con ML Kit en Android.</a:t>
            </a:r>
            <a:endParaRPr b="0" sz="10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96" name="Google Shape;196;p4"/>
          <p:cNvSpPr/>
          <p:nvPr/>
        </p:nvSpPr>
        <p:spPr>
          <a:xfrm>
            <a:off x="6291000" y="4480560"/>
            <a:ext cx="383760" cy="38376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4"/>
          <p:cNvSpPr/>
          <p:nvPr/>
        </p:nvSpPr>
        <p:spPr>
          <a:xfrm>
            <a:off x="6793920" y="4425840"/>
            <a:ext cx="19929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Adaptación controlada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6291000" y="4892040"/>
            <a:ext cx="250524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8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Reglas verificables para avanzar, mantener o reforzar.</a:t>
            </a:r>
            <a:endParaRPr b="0" sz="10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99" name="Google Shape;199;p4"/>
          <p:cNvSpPr/>
          <p:nvPr/>
        </p:nvSpPr>
        <p:spPr>
          <a:xfrm>
            <a:off x="9061560" y="4480560"/>
            <a:ext cx="383760" cy="38376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4"/>
          <p:cNvSpPr/>
          <p:nvPr/>
        </p:nvSpPr>
        <p:spPr>
          <a:xfrm>
            <a:off x="9564480" y="4425840"/>
            <a:ext cx="1992960" cy="264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Docente opcional</a:t>
            </a:r>
            <a:endParaRPr b="0" sz="13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9061560" y="4892040"/>
            <a:ext cx="250524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8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Seguimiento sin convertirlo en dependencia del flujo.</a:t>
            </a:r>
            <a:endParaRPr b="0" sz="10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822960" y="5897880"/>
            <a:ext cx="105152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L" sz="113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 producto utiliza Kumon únicamente como referente metodológico; K-Mat IA es una solución propia.</a:t>
            </a:r>
            <a:endParaRPr b="0" sz="11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7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Arquitectura y tecnologías tentativas</a:t>
            </a:r>
            <a:endParaRPr b="0" sz="2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Android como prioridad; componentes desacoplados para permitir evolución futura.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94360" y="1481400"/>
            <a:ext cx="1572480" cy="91404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10" name="Google Shape;210;p5"/>
          <p:cNvSpPr/>
          <p:nvPr/>
        </p:nvSpPr>
        <p:spPr>
          <a:xfrm>
            <a:off x="704160" y="1627560"/>
            <a:ext cx="292320" cy="29232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5"/>
          <p:cNvSpPr/>
          <p:nvPr/>
        </p:nvSpPr>
        <p:spPr>
          <a:xfrm>
            <a:off x="1069920" y="1609200"/>
            <a:ext cx="10054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8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App Android</a:t>
            </a:r>
            <a:endParaRPr b="0" sz="12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13160" y="1956960"/>
            <a:ext cx="13345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Kotlin +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Jetpack Compose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5"/>
          <p:cNvCxnSpPr/>
          <p:nvPr/>
        </p:nvCxnSpPr>
        <p:spPr>
          <a:xfrm>
            <a:off x="2194560" y="1938240"/>
            <a:ext cx="200880" cy="36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5"/>
          <p:cNvSpPr/>
          <p:nvPr/>
        </p:nvSpPr>
        <p:spPr>
          <a:xfrm>
            <a:off x="2450520" y="1481400"/>
            <a:ext cx="1599840" cy="91404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15" name="Google Shape;215;p5"/>
          <p:cNvSpPr/>
          <p:nvPr/>
        </p:nvSpPr>
        <p:spPr>
          <a:xfrm>
            <a:off x="2560320" y="1627560"/>
            <a:ext cx="292320" cy="29232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5"/>
          <p:cNvSpPr/>
          <p:nvPr/>
        </p:nvSpPr>
        <p:spPr>
          <a:xfrm>
            <a:off x="2926080" y="1609200"/>
            <a:ext cx="10328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8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Escritura</a:t>
            </a:r>
            <a:endParaRPr b="0" sz="12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2569320" y="1956960"/>
            <a:ext cx="13622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ML Kit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 Ink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5"/>
          <p:cNvCxnSpPr/>
          <p:nvPr/>
        </p:nvCxnSpPr>
        <p:spPr>
          <a:xfrm>
            <a:off x="4078080" y="1938240"/>
            <a:ext cx="210240" cy="36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5"/>
          <p:cNvSpPr/>
          <p:nvPr/>
        </p:nvSpPr>
        <p:spPr>
          <a:xfrm>
            <a:off x="4343400" y="1481400"/>
            <a:ext cx="1599840" cy="91404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20" name="Google Shape;220;p5"/>
          <p:cNvSpPr/>
          <p:nvPr/>
        </p:nvSpPr>
        <p:spPr>
          <a:xfrm>
            <a:off x="4453200" y="1627560"/>
            <a:ext cx="292320" cy="29232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5"/>
          <p:cNvSpPr/>
          <p:nvPr/>
        </p:nvSpPr>
        <p:spPr>
          <a:xfrm>
            <a:off x="4818960" y="1609200"/>
            <a:ext cx="10328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8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Motor</a:t>
            </a:r>
            <a:endParaRPr b="0" sz="12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462200" y="1956960"/>
            <a:ext cx="13622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Reglas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adaptativas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5"/>
          <p:cNvCxnSpPr/>
          <p:nvPr/>
        </p:nvCxnSpPr>
        <p:spPr>
          <a:xfrm>
            <a:off x="5970960" y="1938240"/>
            <a:ext cx="210240" cy="36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5"/>
          <p:cNvSpPr/>
          <p:nvPr/>
        </p:nvSpPr>
        <p:spPr>
          <a:xfrm>
            <a:off x="6236280" y="1481400"/>
            <a:ext cx="1599840" cy="91404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25" name="Google Shape;225;p5"/>
          <p:cNvSpPr/>
          <p:nvPr/>
        </p:nvSpPr>
        <p:spPr>
          <a:xfrm>
            <a:off x="6346080" y="1627560"/>
            <a:ext cx="292320" cy="29232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5"/>
          <p:cNvSpPr/>
          <p:nvPr/>
        </p:nvSpPr>
        <p:spPr>
          <a:xfrm>
            <a:off x="6711840" y="1609200"/>
            <a:ext cx="10328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8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Local</a:t>
            </a:r>
            <a:endParaRPr b="0" sz="12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6355080" y="1956960"/>
            <a:ext cx="13622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Room /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SQLite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5"/>
          <p:cNvCxnSpPr/>
          <p:nvPr/>
        </p:nvCxnSpPr>
        <p:spPr>
          <a:xfrm>
            <a:off x="7863840" y="1938240"/>
            <a:ext cx="210240" cy="36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" name="Google Shape;229;p5"/>
          <p:cNvSpPr/>
          <p:nvPr/>
        </p:nvSpPr>
        <p:spPr>
          <a:xfrm>
            <a:off x="8129160" y="1481400"/>
            <a:ext cx="1599840" cy="91404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30" name="Google Shape;230;p5"/>
          <p:cNvSpPr/>
          <p:nvPr/>
        </p:nvSpPr>
        <p:spPr>
          <a:xfrm>
            <a:off x="8238600" y="1627560"/>
            <a:ext cx="292320" cy="29232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5"/>
          <p:cNvSpPr/>
          <p:nvPr/>
        </p:nvSpPr>
        <p:spPr>
          <a:xfrm>
            <a:off x="8604360" y="1609200"/>
            <a:ext cx="103284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8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Sync</a:t>
            </a:r>
            <a:endParaRPr b="0" sz="12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8247960" y="1956960"/>
            <a:ext cx="136224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WorkManager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5"/>
          <p:cNvCxnSpPr/>
          <p:nvPr/>
        </p:nvCxnSpPr>
        <p:spPr>
          <a:xfrm>
            <a:off x="9756360" y="1938240"/>
            <a:ext cx="210600" cy="36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5"/>
          <p:cNvSpPr/>
          <p:nvPr/>
        </p:nvSpPr>
        <p:spPr>
          <a:xfrm>
            <a:off x="10021680" y="1481400"/>
            <a:ext cx="1572480" cy="914040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35" name="Google Shape;235;p5"/>
          <p:cNvSpPr/>
          <p:nvPr/>
        </p:nvSpPr>
        <p:spPr>
          <a:xfrm>
            <a:off x="10131480" y="1627560"/>
            <a:ext cx="292320" cy="29232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5"/>
          <p:cNvSpPr/>
          <p:nvPr/>
        </p:nvSpPr>
        <p:spPr>
          <a:xfrm>
            <a:off x="10497240" y="1609200"/>
            <a:ext cx="1005480" cy="23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8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sz="12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10140840" y="1956960"/>
            <a:ext cx="13345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0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Supabase</a:t>
            </a:r>
            <a:endParaRPr b="0" sz="10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777240" y="2880360"/>
            <a:ext cx="5303160" cy="2422800"/>
          </a:xfrm>
          <a:prstGeom prst="roundRect">
            <a:avLst>
              <a:gd fmla="val 679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1051560" y="3136320"/>
            <a:ext cx="14626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Supabase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1069920" y="3675960"/>
            <a:ext cx="72720" cy="7272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25" lIns="90000" spcFirstLastPara="1" rIns="90000" wrap="square" tIns="6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1261800" y="3602880"/>
            <a:ext cx="443448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 </a:t>
            </a: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 autenticación y acceso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069920" y="4060080"/>
            <a:ext cx="72720" cy="7272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25" lIns="90000" spcFirstLastPara="1" rIns="90000" wrap="square" tIns="6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1261800" y="3986640"/>
            <a:ext cx="443448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PostgreSQL </a:t>
            </a: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 usuarios, ejercicios, sesiones y progreso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1069920" y="4443840"/>
            <a:ext cx="72720" cy="7272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25" lIns="90000" spcFirstLastPara="1" rIns="90000" wrap="square" tIns="6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1261800" y="4370760"/>
            <a:ext cx="443448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Storage </a:t>
            </a: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 archivos y recursos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1069920" y="4827960"/>
            <a:ext cx="72720" cy="7272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25" lIns="90000" spcFirstLastPara="1" rIns="90000" wrap="square" tIns="6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1261800" y="4754880"/>
            <a:ext cx="443448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Edge Functions </a:t>
            </a: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 lógica segura de servidor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6327720" y="2880360"/>
            <a:ext cx="5074560" cy="2422800"/>
          </a:xfrm>
          <a:prstGeom prst="roundRect">
            <a:avLst>
              <a:gd fmla="val 6792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6583680" y="3136320"/>
            <a:ext cx="32457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Componentes complementarios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50" name="Google Shape;250;p5"/>
          <p:cNvSpPr/>
          <p:nvPr/>
        </p:nvSpPr>
        <p:spPr>
          <a:xfrm>
            <a:off x="6602040" y="3684960"/>
            <a:ext cx="310680" cy="31068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5"/>
          <p:cNvSpPr/>
          <p:nvPr/>
        </p:nvSpPr>
        <p:spPr>
          <a:xfrm>
            <a:off x="7040880" y="3639240"/>
            <a:ext cx="21942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6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Gemini API (opcional)</a:t>
            </a:r>
            <a:endParaRPr b="0" sz="12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7040880" y="3931920"/>
            <a:ext cx="38401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1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Análisis y retroalimentación avanzada vía backend.</a:t>
            </a:r>
            <a:endParaRPr b="0" sz="111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253" name="Google Shape;253;p5"/>
          <p:cNvSpPr/>
          <p:nvPr/>
        </p:nvSpPr>
        <p:spPr>
          <a:xfrm>
            <a:off x="6602040" y="4370760"/>
            <a:ext cx="310680" cy="31068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5"/>
          <p:cNvSpPr/>
          <p:nvPr/>
        </p:nvSpPr>
        <p:spPr>
          <a:xfrm>
            <a:off x="7040880" y="4334400"/>
            <a:ext cx="233136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6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Seguridad y privacidad</a:t>
            </a:r>
            <a:endParaRPr b="0" sz="12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7040880" y="4626720"/>
            <a:ext cx="38401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1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RLS, mínimo de datos y control de acceso por rol.</a:t>
            </a:r>
            <a:endParaRPr b="0" sz="111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4507920" y="5715000"/>
            <a:ext cx="1462680" cy="310680"/>
          </a:xfrm>
          <a:prstGeom prst="roundRect">
            <a:avLst>
              <a:gd fmla="val 16667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4581000" y="5774400"/>
            <a:ext cx="13165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930" u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OFFLINE-FIRST</a:t>
            </a:r>
            <a:endParaRPr b="0" sz="93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6172200" y="5769720"/>
            <a:ext cx="466308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4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 núcleo del MVP puede funcionar sin depender de IA generativa.</a:t>
            </a:r>
            <a:endParaRPr b="0" sz="114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"/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7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5. Plan de trabajo: Scrum adaptado</a:t>
            </a:r>
            <a:endParaRPr b="0" sz="2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18 semanas académicas; el desarrollo técnico principal se concentra en aproximadamente 10–12 semanas.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731520" y="1444680"/>
            <a:ext cx="2157480" cy="45684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2907720" y="1444680"/>
            <a:ext cx="6418800" cy="456840"/>
          </a:xfrm>
          <a:prstGeom prst="roundRect">
            <a:avLst>
              <a:gd fmla="val 16667" name="adj"/>
            </a:avLst>
          </a:prstGeom>
          <a:solidFill>
            <a:srgbClr val="CCFBF1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9345240" y="1444680"/>
            <a:ext cx="2084400" cy="45684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 cap="flat" cmpd="sng" w="12700">
            <a:solidFill>
              <a:srgbClr val="DDD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731520" y="1563480"/>
            <a:ext cx="215748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50" u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Fase 1 · S1–S4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2907720" y="1563480"/>
            <a:ext cx="64188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50" u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Fase 2 · S5–S15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9345240" y="1563480"/>
            <a:ext cx="20844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50" u="none" strike="noStrike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Fase 3 · S16–S18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731520" y="2039040"/>
            <a:ext cx="594000" cy="365400"/>
          </a:xfrm>
          <a:prstGeom prst="rect">
            <a:avLst/>
          </a:prstGeom>
          <a:solidFill>
            <a:srgbClr val="EFF6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73152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1325880" y="2039040"/>
            <a:ext cx="594000" cy="365400"/>
          </a:xfrm>
          <a:prstGeom prst="rect">
            <a:avLst/>
          </a:prstGeom>
          <a:solidFill>
            <a:srgbClr val="EFF6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132588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S2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1920240" y="2039040"/>
            <a:ext cx="594000" cy="365400"/>
          </a:xfrm>
          <a:prstGeom prst="rect">
            <a:avLst/>
          </a:prstGeom>
          <a:solidFill>
            <a:srgbClr val="EFF6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192024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S3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2514600" y="2039040"/>
            <a:ext cx="594000" cy="365400"/>
          </a:xfrm>
          <a:prstGeom prst="rect">
            <a:avLst/>
          </a:prstGeom>
          <a:solidFill>
            <a:srgbClr val="EFF6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251460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S4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310896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310896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S5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370332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370332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S6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429768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429768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S7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489204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489204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S8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548640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548640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S9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608076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608076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S10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667512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667512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S11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726948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726948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S12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786384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786384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S13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845820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845820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S14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9052560" y="2039040"/>
            <a:ext cx="594000" cy="365400"/>
          </a:xfrm>
          <a:prstGeom prst="rect">
            <a:avLst/>
          </a:prstGeom>
          <a:solidFill>
            <a:srgbClr val="F0FDFA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905256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S15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9646920" y="2039040"/>
            <a:ext cx="594000" cy="365400"/>
          </a:xfrm>
          <a:prstGeom prst="rect">
            <a:avLst/>
          </a:prstGeom>
          <a:solidFill>
            <a:srgbClr val="F5F3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964692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S16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10241280" y="2039040"/>
            <a:ext cx="594000" cy="365400"/>
          </a:xfrm>
          <a:prstGeom prst="rect">
            <a:avLst/>
          </a:prstGeom>
          <a:solidFill>
            <a:srgbClr val="F5F3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1024128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S17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10835640" y="2039040"/>
            <a:ext cx="594000" cy="365400"/>
          </a:xfrm>
          <a:prstGeom prst="rect">
            <a:avLst/>
          </a:prstGeom>
          <a:solidFill>
            <a:srgbClr val="F5F3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10835640" y="2139840"/>
            <a:ext cx="5940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6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S18</a:t>
            </a:r>
            <a:endParaRPr b="0" sz="86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731520" y="2743200"/>
            <a:ext cx="2377080" cy="2923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804600" y="2807280"/>
            <a:ext cx="223092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8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Definición + backlog</a:t>
            </a:r>
            <a:endParaRPr b="0" sz="8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108960" y="3200400"/>
            <a:ext cx="594000" cy="292320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3182040" y="3264480"/>
            <a:ext cx="4478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8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Sprint 0</a:t>
            </a:r>
            <a:endParaRPr b="0" sz="8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3703320" y="3657600"/>
            <a:ext cx="1188360" cy="292320"/>
          </a:xfrm>
          <a:prstGeom prst="roundRect">
            <a:avLst>
              <a:gd fmla="val 16667" name="adj"/>
            </a:avLst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776400" y="3721680"/>
            <a:ext cx="1042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616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Sprint 1 · </a:t>
            </a:r>
            <a:r>
              <a:rPr b="1" lang="es-CL" sz="61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acceso + ML Kit</a:t>
            </a:r>
            <a:endParaRPr b="0" sz="616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892040" y="4114800"/>
            <a:ext cx="1188360" cy="29232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4965120" y="4178880"/>
            <a:ext cx="1042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748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Sprint 2 · </a:t>
            </a:r>
            <a:r>
              <a:rPr b="1" lang="es-CL" sz="7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Diagnóstico + motor</a:t>
            </a:r>
            <a:endParaRPr b="0" sz="748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6080760" y="4572000"/>
            <a:ext cx="1188360" cy="29232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6153840" y="4636080"/>
            <a:ext cx="10422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14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Sprint 3 · </a:t>
            </a:r>
            <a:r>
              <a:rPr b="1" lang="es-CL" sz="81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apoyos + </a:t>
            </a:r>
            <a:r>
              <a:rPr b="1" lang="es-CL" sz="81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offline</a:t>
            </a:r>
            <a:r>
              <a:rPr b="1" lang="es-CL" sz="81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+ docente</a:t>
            </a:r>
            <a:endParaRPr b="0" sz="814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7269480" y="5029200"/>
            <a:ext cx="2377080" cy="292320"/>
          </a:xfrm>
          <a:prstGeom prst="roundRect">
            <a:avLst>
              <a:gd fmla="val 16667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7342560" y="5093280"/>
            <a:ext cx="223092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8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Reportería + integración + pruebas</a:t>
            </a:r>
            <a:endParaRPr b="0" sz="8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9646920" y="5486400"/>
            <a:ext cx="1782720" cy="292320"/>
          </a:xfrm>
          <a:prstGeom prst="roundRect">
            <a:avLst>
              <a:gd fmla="val 16667" name="adj"/>
            </a:avLst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9720000" y="5550480"/>
            <a:ext cx="163656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88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Build + documentación + cierre</a:t>
            </a:r>
            <a:endParaRPr b="0" sz="8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749880" y="6053400"/>
            <a:ext cx="512028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1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Revisión y validación con cliente al cierre de cada sprint</a:t>
            </a:r>
            <a:endParaRPr b="0" sz="111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5577840" y="6053400"/>
            <a:ext cx="557748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1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Backlog refinado de forma continua · retrospectivas breves por sprint</a:t>
            </a:r>
            <a:endParaRPr b="0" sz="111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"/>
          <p:cNvSpPr/>
          <p:nvPr/>
        </p:nvSpPr>
        <p:spPr>
          <a:xfrm>
            <a:off x="640080" y="384120"/>
            <a:ext cx="108810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7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6. Reportería y criterio de éxito del MVP</a:t>
            </a:r>
            <a:endParaRPr b="0" sz="2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658440" y="850320"/>
            <a:ext cx="106066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 Fase 1 deja definido qué debe demostrar el producto al cierre.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731520" y="1417320"/>
            <a:ext cx="3657240" cy="429732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987480" y="1719000"/>
            <a:ext cx="26514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Capacidad de reportería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31" name="Google Shape;331;p7"/>
          <p:cNvSpPr/>
          <p:nvPr/>
        </p:nvSpPr>
        <p:spPr>
          <a:xfrm>
            <a:off x="987480" y="2331720"/>
            <a:ext cx="502560" cy="50256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7"/>
          <p:cNvSpPr/>
          <p:nvPr/>
        </p:nvSpPr>
        <p:spPr>
          <a:xfrm>
            <a:off x="1664280" y="2331720"/>
            <a:ext cx="822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PDF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1664280" y="2651760"/>
            <a:ext cx="22399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Informe de progreso individual y, si aplica, grupal.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34" name="Google Shape;334;p7"/>
          <p:cNvSpPr/>
          <p:nvPr/>
        </p:nvSpPr>
        <p:spPr>
          <a:xfrm>
            <a:off x="987480" y="3401640"/>
            <a:ext cx="502560" cy="50256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7"/>
          <p:cNvSpPr/>
          <p:nvPr/>
        </p:nvSpPr>
        <p:spPr>
          <a:xfrm>
            <a:off x="1664280" y="3401640"/>
            <a:ext cx="822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Excel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1664280" y="3721680"/>
            <a:ext cx="22399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Resultados, intentos, tiempos y progreso para análisis.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37" name="Google Shape;337;p7"/>
          <p:cNvSpPr/>
          <p:nvPr/>
        </p:nvSpPr>
        <p:spPr>
          <a:xfrm>
            <a:off x="987480" y="4498920"/>
            <a:ext cx="502560" cy="50256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7"/>
          <p:cNvSpPr/>
          <p:nvPr/>
        </p:nvSpPr>
        <p:spPr>
          <a:xfrm>
            <a:off x="1664280" y="4498920"/>
            <a:ext cx="12798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Seguimiento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1664280" y="4818960"/>
            <a:ext cx="223992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1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Visualización de avance para estudiante y docente opcional.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4709160" y="1417320"/>
            <a:ext cx="6720480" cy="4297320"/>
          </a:xfrm>
          <a:prstGeom prst="roundRect">
            <a:avLst>
              <a:gd fmla="val 3830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  <a:effectLst>
            <a:outerShdw blurRad="19080" rotWithShape="0" algn="bl" dir="2700000" dist="50402">
              <a:srgbClr val="CBD5E1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5010840" y="1737360"/>
            <a:ext cx="42058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 MVP será exitoso si demuestra: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42" name="Google Shape;342;p7"/>
          <p:cNvSpPr/>
          <p:nvPr/>
        </p:nvSpPr>
        <p:spPr>
          <a:xfrm>
            <a:off x="5029200" y="2331720"/>
            <a:ext cx="282960" cy="28296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7"/>
          <p:cNvSpPr/>
          <p:nvPr/>
        </p:nvSpPr>
        <p:spPr>
          <a:xfrm>
            <a:off x="5440680" y="2286000"/>
            <a:ext cx="5348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2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Flujo autónomo: diagnóstico → práctica → corrección → siguiente actividad.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44" name="Google Shape;344;p7"/>
          <p:cNvSpPr/>
          <p:nvPr/>
        </p:nvSpPr>
        <p:spPr>
          <a:xfrm>
            <a:off x="5029200" y="2917080"/>
            <a:ext cx="282960" cy="28296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7"/>
          <p:cNvSpPr/>
          <p:nvPr/>
        </p:nvSpPr>
        <p:spPr>
          <a:xfrm>
            <a:off x="5440680" y="2871360"/>
            <a:ext cx="5348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2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Reconocimiento manuscrito de un conjunto acotado de números y signos.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46" name="Google Shape;346;p7"/>
          <p:cNvSpPr/>
          <p:nvPr/>
        </p:nvSpPr>
        <p:spPr>
          <a:xfrm>
            <a:off x="5029200" y="3502080"/>
            <a:ext cx="282960" cy="28296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7"/>
          <p:cNvSpPr/>
          <p:nvPr/>
        </p:nvSpPr>
        <p:spPr>
          <a:xfrm>
            <a:off x="5440680" y="3456360"/>
            <a:ext cx="5348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2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Motor adaptativo basado en reglas verificables.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48" name="Google Shape;348;p7"/>
          <p:cNvSpPr/>
          <p:nvPr/>
        </p:nvSpPr>
        <p:spPr>
          <a:xfrm>
            <a:off x="5029200" y="4087440"/>
            <a:ext cx="282960" cy="28296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7"/>
          <p:cNvSpPr/>
          <p:nvPr/>
        </p:nvSpPr>
        <p:spPr>
          <a:xfrm>
            <a:off x="5440680" y="4041720"/>
            <a:ext cx="5348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2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Persistencia local y sincronización al recuperar conexión.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50" name="Google Shape;350;p7"/>
          <p:cNvSpPr/>
          <p:nvPr/>
        </p:nvSpPr>
        <p:spPr>
          <a:xfrm>
            <a:off x="5029200" y="4672440"/>
            <a:ext cx="282960" cy="28296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7"/>
          <p:cNvSpPr/>
          <p:nvPr/>
        </p:nvSpPr>
        <p:spPr>
          <a:xfrm>
            <a:off x="5440680" y="4626720"/>
            <a:ext cx="5348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25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Registro de progreso y exportación básica de reportes.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1828800" y="5943600"/>
            <a:ext cx="8503560" cy="40212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1965960" y="6053400"/>
            <a:ext cx="8229240" cy="17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4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K-Mat IA busca aumentar la autonomía del estudiante y la productividad del seguimiento docente.</a:t>
            </a:r>
            <a:endParaRPr b="0" sz="114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2026-09-12T06:30:59Z</dcterms:created>
  <dc:creator>FERNANDO SAMUEL VIDAL ÑANCUPIL (Alumno)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0x0101007E9B333DB6BAEE4EACFEB140225CCCFA</vt:lpwstr>
  </property>
</Properties>
</file>